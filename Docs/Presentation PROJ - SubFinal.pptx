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8" r:id="rId4"/>
    <p:sldId id="293" r:id="rId5"/>
    <p:sldId id="259" r:id="rId6"/>
    <p:sldId id="260" r:id="rId7"/>
    <p:sldId id="290" r:id="rId8"/>
    <p:sldId id="291" r:id="rId9"/>
    <p:sldId id="294" r:id="rId10"/>
    <p:sldId id="292" r:id="rId11"/>
    <p:sldId id="280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9346"/>
    <a:srgbClr val="449EC2"/>
    <a:srgbClr val="449FC3"/>
    <a:srgbClr val="E5F4EA"/>
    <a:srgbClr val="EDEDE7"/>
    <a:srgbClr val="ECEBE5"/>
    <a:srgbClr val="F0F7ED"/>
    <a:srgbClr val="06833C"/>
    <a:srgbClr val="59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058" autoAdjust="0"/>
  </p:normalViewPr>
  <p:slideViewPr>
    <p:cSldViewPr>
      <p:cViewPr varScale="1">
        <p:scale>
          <a:sx n="59" d="100"/>
          <a:sy n="59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21233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BF39-CA2B-8316-5D2D-7FB91EDA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2C2C4F-A7BD-FE30-5ADB-106F22A89C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51A8E-CDCA-7628-A381-9702536A94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2F8D0E-791D-F475-6D70-5C5253656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216F8E-7AA7-0409-E505-6CDB3B596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D8873-24C4-0F01-90D2-82F3EFF0BF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53EED-7863-0090-91B2-1D867AAF6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80520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65B0E-6F19-93C5-D6F9-6957E69D6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B2758-A79F-ABC5-1A33-941356B134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89C1B-88F2-3606-0A18-88E6BDEB6B6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B5DACD-AD68-4F4E-98AF-BCA720418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99AD920-9505-A059-2A56-F62D0220C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24E4F-202F-2B2B-25CC-95E2CDB736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38D4F-3E58-E355-A5F7-6CE7F433D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76482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4A84-763F-5CC7-AF41-2D58F6B1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B2CEBB-9AC5-601D-602A-24EA960F0D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CCE73-C51E-E7E2-8E42-57EE9DF4603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C6C133-2EED-7079-5A4F-459537A802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7E445E-62E0-2867-6F29-A7D8BC8CB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E683-8740-A99E-49A5-5AA9AA7694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47C9C-1EDB-BFE6-C7AF-E5D16E028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54797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F0E20-6865-D877-6023-A9C232E9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14A9D-2380-B0F2-A375-215DFB78B6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2D78D-860B-BB80-0237-77BA988E5B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BB67F5C-7BEF-8DC4-724E-09EA45FEE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5CC3576-571B-7E7A-3941-089A0B69D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DE5E8-ECC2-CF5E-31E3-2D953D4A56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9EC3C-24DF-3074-851A-D6EE6A745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2221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6F56-9604-B38D-D9F3-55908474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42CF68-396C-E4E7-C48A-125E462AFC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9431E-943D-AFE5-B86A-A8CF4D61B0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037E5E7-6ED7-8B80-660A-69A38D894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6D7728-6045-C319-083F-FC7E2A1F6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C5F0A-6149-DAF1-266A-CEB88D23D6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DF172-2682-6E96-08DF-7AEC815EB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25285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5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3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73364" y="7665670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grpSp>
        <p:nvGrpSpPr>
          <p:cNvPr id="3" name="Group 3"/>
          <p:cNvGrpSpPr/>
          <p:nvPr/>
        </p:nvGrpSpPr>
        <p:grpSpPr>
          <a:xfrm rot="2539751">
            <a:off x="14742138" y="-6465702"/>
            <a:ext cx="6344352" cy="9577704"/>
            <a:chOff x="0" y="0"/>
            <a:chExt cx="8459136" cy="12770272"/>
          </a:xfrm>
          <a:solidFill>
            <a:srgbClr val="5C9346"/>
          </a:solidFill>
        </p:grpSpPr>
        <p:sp>
          <p:nvSpPr>
            <p:cNvPr id="4" name="Freeform 4"/>
            <p:cNvSpPr/>
            <p:nvPr/>
          </p:nvSpPr>
          <p:spPr>
            <a:xfrm>
              <a:off x="127" y="0"/>
              <a:ext cx="8459089" cy="12770231"/>
            </a:xfrm>
            <a:custGeom>
              <a:avLst/>
              <a:gdLst/>
              <a:ahLst/>
              <a:cxnLst/>
              <a:rect l="l" t="t" r="r" b="b"/>
              <a:pathLst>
                <a:path w="8459089" h="12770231">
                  <a:moveTo>
                    <a:pt x="1097534" y="0"/>
                  </a:moveTo>
                  <a:cubicBezTo>
                    <a:pt x="934339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466"/>
                  </a:cubicBezTo>
                  <a:lnTo>
                    <a:pt x="6527165" y="12289790"/>
                  </a:lnTo>
                  <a:cubicBezTo>
                    <a:pt x="6706235" y="12597892"/>
                    <a:pt x="7029831" y="12770231"/>
                    <a:pt x="7362063" y="12770231"/>
                  </a:cubicBezTo>
                  <a:cubicBezTo>
                    <a:pt x="7525385" y="12770231"/>
                    <a:pt x="7690612" y="12728575"/>
                    <a:pt x="7842123" y="12641199"/>
                  </a:cubicBezTo>
                  <a:cubicBezTo>
                    <a:pt x="8301609" y="12375642"/>
                    <a:pt x="8459089" y="11787378"/>
                    <a:pt x="8193533" y="11327765"/>
                  </a:cubicBezTo>
                  <a:lnTo>
                    <a:pt x="1930273" y="480441"/>
                  </a:lnTo>
                  <a:cubicBezTo>
                    <a:pt x="1752219" y="172212"/>
                    <a:pt x="1429639" y="0"/>
                    <a:pt x="1097534" y="0"/>
                  </a:cubicBezTo>
                  <a:close/>
                </a:path>
              </a:pathLst>
            </a:custGeom>
            <a:solidFill>
              <a:srgbClr val="449EC2"/>
            </a:solidFill>
          </p:spPr>
          <p:txBody>
            <a:bodyPr/>
            <a:lstStyle/>
            <a:p>
              <a:endParaRPr lang="en-IL" dirty="0"/>
            </a:p>
          </p:txBody>
        </p:sp>
      </p:grpSp>
      <p:grpSp>
        <p:nvGrpSpPr>
          <p:cNvPr id="5" name="Group 5"/>
          <p:cNvGrpSpPr/>
          <p:nvPr/>
        </p:nvGrpSpPr>
        <p:grpSpPr>
          <a:xfrm rot="9266724">
            <a:off x="15387504" y="1830332"/>
            <a:ext cx="502120" cy="502120"/>
            <a:chOff x="0" y="0"/>
            <a:chExt cx="669493" cy="669493"/>
          </a:xfrm>
          <a:solidFill>
            <a:srgbClr val="5C9346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669544" cy="669544"/>
            </a:xfrm>
            <a:custGeom>
              <a:avLst/>
              <a:gdLst/>
              <a:ahLst/>
              <a:cxnLst/>
              <a:rect l="l" t="t" r="r" b="b"/>
              <a:pathLst>
                <a:path w="669544" h="669544">
                  <a:moveTo>
                    <a:pt x="0" y="334772"/>
                  </a:moveTo>
                  <a:cubicBezTo>
                    <a:pt x="0" y="149860"/>
                    <a:pt x="149860" y="0"/>
                    <a:pt x="334772" y="0"/>
                  </a:cubicBezTo>
                  <a:cubicBezTo>
                    <a:pt x="519684" y="0"/>
                    <a:pt x="669544" y="149860"/>
                    <a:pt x="669544" y="334772"/>
                  </a:cubicBezTo>
                  <a:cubicBezTo>
                    <a:pt x="669544" y="519684"/>
                    <a:pt x="519684" y="669544"/>
                    <a:pt x="334772" y="669544"/>
                  </a:cubicBezTo>
                  <a:cubicBezTo>
                    <a:pt x="149860" y="669544"/>
                    <a:pt x="0" y="519684"/>
                    <a:pt x="0" y="33477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95204" y="5208358"/>
            <a:ext cx="14401800" cy="88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1">
              <a:lnSpc>
                <a:spcPts val="3359"/>
              </a:lnSpc>
            </a:pPr>
            <a:r>
              <a:rPr lang="en-US" sz="3500" b="1" dirty="0"/>
              <a:t>Hospital Nutrition Management System: Allergies &amp; Complex</a:t>
            </a:r>
          </a:p>
          <a:p>
            <a:pPr rtl="1">
              <a:lnSpc>
                <a:spcPts val="3359"/>
              </a:lnSpc>
            </a:pPr>
            <a:r>
              <a:rPr lang="en-US" sz="3500" b="1" dirty="0"/>
              <a:t>Feeding Needs </a:t>
            </a:r>
            <a:endParaRPr lang="he-IL" sz="3500" b="1" dirty="0">
              <a:solidFill>
                <a:srgbClr val="343434"/>
              </a:solidFill>
              <a:latin typeface="Calibri" panose="020F0502020204030204" pitchFamily="34" charset="0"/>
              <a:ea typeface="Apple Symbols" panose="02000000000000000000" pitchFamily="2" charset="-79"/>
              <a:cs typeface="Calibri" panose="020F0502020204030204" pitchFamily="34" charset="0"/>
              <a:sym typeface="Muli"/>
              <a:rtl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171400" y="7665670"/>
            <a:ext cx="1945200" cy="1945200"/>
            <a:chOff x="0" y="0"/>
            <a:chExt cx="2593600" cy="2593600"/>
          </a:xfrm>
          <a:solidFill>
            <a:srgbClr val="449EC2"/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93594" cy="2593594"/>
            </a:xfrm>
            <a:custGeom>
              <a:avLst/>
              <a:gdLst/>
              <a:ahLst/>
              <a:cxnLst/>
              <a:rect l="l" t="t" r="r" b="b"/>
              <a:pathLst>
                <a:path w="2593594" h="2593594">
                  <a:moveTo>
                    <a:pt x="0" y="1296797"/>
                  </a:moveTo>
                  <a:cubicBezTo>
                    <a:pt x="0" y="580644"/>
                    <a:pt x="580644" y="0"/>
                    <a:pt x="1296797" y="0"/>
                  </a:cubicBezTo>
                  <a:cubicBezTo>
                    <a:pt x="2012950" y="0"/>
                    <a:pt x="2593594" y="580644"/>
                    <a:pt x="2593594" y="1296797"/>
                  </a:cubicBezTo>
                  <a:cubicBezTo>
                    <a:pt x="2593594" y="2012950"/>
                    <a:pt x="2012950" y="2593594"/>
                    <a:pt x="1296797" y="2593594"/>
                  </a:cubicBezTo>
                  <a:cubicBezTo>
                    <a:pt x="580644" y="2593594"/>
                    <a:pt x="0" y="2012950"/>
                    <a:pt x="0" y="1296797"/>
                  </a:cubicBezTo>
                  <a:close/>
                  <a:moveTo>
                    <a:pt x="462788" y="1296797"/>
                  </a:moveTo>
                  <a:cubicBezTo>
                    <a:pt x="462788" y="1757426"/>
                    <a:pt x="836168" y="2130806"/>
                    <a:pt x="1296797" y="2130806"/>
                  </a:cubicBezTo>
                  <a:cubicBezTo>
                    <a:pt x="1757426" y="2130806"/>
                    <a:pt x="2130806" y="1757426"/>
                    <a:pt x="2130806" y="1296797"/>
                  </a:cubicBezTo>
                  <a:cubicBezTo>
                    <a:pt x="2130806" y="836168"/>
                    <a:pt x="1757426" y="462788"/>
                    <a:pt x="1296797" y="462788"/>
                  </a:cubicBezTo>
                  <a:cubicBezTo>
                    <a:pt x="836168" y="462788"/>
                    <a:pt x="462788" y="836168"/>
                    <a:pt x="462788" y="1296797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316508" y="7581587"/>
            <a:ext cx="669600" cy="669600"/>
            <a:chOff x="0" y="0"/>
            <a:chExt cx="892800" cy="892800"/>
          </a:xfrm>
          <a:solidFill>
            <a:srgbClr val="449FC3"/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2810" cy="892810"/>
            </a:xfrm>
            <a:custGeom>
              <a:avLst/>
              <a:gdLst/>
              <a:ahLst/>
              <a:cxnLst/>
              <a:rect l="l" t="t" r="r" b="b"/>
              <a:pathLst>
                <a:path w="892810" h="892810">
                  <a:moveTo>
                    <a:pt x="0" y="446405"/>
                  </a:moveTo>
                  <a:cubicBezTo>
                    <a:pt x="0" y="199898"/>
                    <a:pt x="199898" y="0"/>
                    <a:pt x="446405" y="0"/>
                  </a:cubicBezTo>
                  <a:cubicBezTo>
                    <a:pt x="692912" y="0"/>
                    <a:pt x="892810" y="199898"/>
                    <a:pt x="892810" y="446405"/>
                  </a:cubicBezTo>
                  <a:cubicBezTo>
                    <a:pt x="892810" y="692912"/>
                    <a:pt x="692912" y="892810"/>
                    <a:pt x="446405" y="892810"/>
                  </a:cubicBezTo>
                  <a:cubicBezTo>
                    <a:pt x="199898" y="892810"/>
                    <a:pt x="0" y="692912"/>
                    <a:pt x="0" y="44640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4" name="Group 14"/>
          <p:cNvGrpSpPr/>
          <p:nvPr/>
        </p:nvGrpSpPr>
        <p:grpSpPr>
          <a:xfrm rot="9266724">
            <a:off x="9710244" y="7749396"/>
            <a:ext cx="502120" cy="502120"/>
            <a:chOff x="0" y="0"/>
            <a:chExt cx="669493" cy="669493"/>
          </a:xfrm>
          <a:solidFill>
            <a:srgbClr val="5C9346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9544" cy="669544"/>
            </a:xfrm>
            <a:custGeom>
              <a:avLst/>
              <a:gdLst/>
              <a:ahLst/>
              <a:cxnLst/>
              <a:rect l="l" t="t" r="r" b="b"/>
              <a:pathLst>
                <a:path w="669544" h="669544">
                  <a:moveTo>
                    <a:pt x="0" y="334772"/>
                  </a:moveTo>
                  <a:cubicBezTo>
                    <a:pt x="0" y="149860"/>
                    <a:pt x="149860" y="0"/>
                    <a:pt x="334772" y="0"/>
                  </a:cubicBezTo>
                  <a:cubicBezTo>
                    <a:pt x="519684" y="0"/>
                    <a:pt x="669544" y="149860"/>
                    <a:pt x="669544" y="334772"/>
                  </a:cubicBezTo>
                  <a:cubicBezTo>
                    <a:pt x="669544" y="519684"/>
                    <a:pt x="519684" y="669544"/>
                    <a:pt x="334772" y="669544"/>
                  </a:cubicBezTo>
                  <a:cubicBezTo>
                    <a:pt x="149860" y="669544"/>
                    <a:pt x="0" y="519684"/>
                    <a:pt x="0" y="33477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848268" y="9103576"/>
            <a:ext cx="223516" cy="223420"/>
            <a:chOff x="0" y="0"/>
            <a:chExt cx="298021" cy="297893"/>
          </a:xfrm>
          <a:solidFill>
            <a:srgbClr val="5C9346"/>
          </a:solidFill>
        </p:grpSpPr>
        <p:sp>
          <p:nvSpPr>
            <p:cNvPr id="70" name="Freeform 70"/>
            <p:cNvSpPr/>
            <p:nvPr/>
          </p:nvSpPr>
          <p:spPr>
            <a:xfrm>
              <a:off x="127" y="0"/>
              <a:ext cx="297815" cy="297942"/>
            </a:xfrm>
            <a:custGeom>
              <a:avLst/>
              <a:gdLst/>
              <a:ahLst/>
              <a:cxnLst/>
              <a:rect l="l" t="t" r="r" b="b"/>
              <a:pathLst>
                <a:path w="297815" h="297942">
                  <a:moveTo>
                    <a:pt x="148971" y="32004"/>
                  </a:moveTo>
                  <a:cubicBezTo>
                    <a:pt x="215392" y="32004"/>
                    <a:pt x="265938" y="85217"/>
                    <a:pt x="265938" y="148971"/>
                  </a:cubicBezTo>
                  <a:cubicBezTo>
                    <a:pt x="265938" y="212725"/>
                    <a:pt x="212725" y="265938"/>
                    <a:pt x="148971" y="265938"/>
                  </a:cubicBezTo>
                  <a:cubicBezTo>
                    <a:pt x="85217" y="265938"/>
                    <a:pt x="31877" y="212725"/>
                    <a:pt x="31877" y="148971"/>
                  </a:cubicBezTo>
                  <a:cubicBezTo>
                    <a:pt x="31877" y="85217"/>
                    <a:pt x="85090" y="32004"/>
                    <a:pt x="148971" y="32004"/>
                  </a:cubicBezTo>
                  <a:close/>
                  <a:moveTo>
                    <a:pt x="148971" y="0"/>
                  </a:moveTo>
                  <a:cubicBezTo>
                    <a:pt x="66421" y="0"/>
                    <a:pt x="0" y="66548"/>
                    <a:pt x="0" y="148971"/>
                  </a:cubicBezTo>
                  <a:cubicBezTo>
                    <a:pt x="0" y="231394"/>
                    <a:pt x="66421" y="297942"/>
                    <a:pt x="148971" y="297942"/>
                  </a:cubicBezTo>
                  <a:cubicBezTo>
                    <a:pt x="231521" y="297942"/>
                    <a:pt x="297815" y="231394"/>
                    <a:pt x="297815" y="148971"/>
                  </a:cubicBezTo>
                  <a:cubicBezTo>
                    <a:pt x="297815" y="66548"/>
                    <a:pt x="231394" y="0"/>
                    <a:pt x="148971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pic>
        <p:nvPicPr>
          <p:cNvPr id="75" name="תמונה 74">
            <a:extLst>
              <a:ext uri="{FF2B5EF4-FFF2-40B4-BE49-F238E27FC236}">
                <a16:creationId xmlns:a16="http://schemas.microsoft.com/office/drawing/2014/main" id="{DB8E67F0-5640-9BA7-278E-2454D301F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2" t="24064" r="20477" b="24881"/>
          <a:stretch>
            <a:fillRect/>
          </a:stretch>
        </p:blipFill>
        <p:spPr>
          <a:xfrm>
            <a:off x="2653174" y="285812"/>
            <a:ext cx="5881225" cy="4976071"/>
          </a:xfrm>
          <a:prstGeom prst="rect">
            <a:avLst/>
          </a:prstGeom>
        </p:spPr>
      </p:pic>
      <p:sp>
        <p:nvSpPr>
          <p:cNvPr id="74" name="TextBox 8">
            <a:extLst>
              <a:ext uri="{FF2B5EF4-FFF2-40B4-BE49-F238E27FC236}">
                <a16:creationId xmlns:a16="http://schemas.microsoft.com/office/drawing/2014/main" id="{03EC99BB-3C75-4C78-D2AD-509D3838BEA3}"/>
              </a:ext>
            </a:extLst>
          </p:cNvPr>
          <p:cNvSpPr txBox="1"/>
          <p:nvPr/>
        </p:nvSpPr>
        <p:spPr>
          <a:xfrm>
            <a:off x="8636306" y="9610866"/>
            <a:ext cx="7157550" cy="42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359"/>
              </a:lnSpc>
            </a:pPr>
            <a:r>
              <a:rPr lang="en-US" sz="2799" dirty="0">
                <a:solidFill>
                  <a:srgbClr val="343434"/>
                </a:solidFill>
                <a:latin typeface="Calibri" panose="020F0502020204030204" pitchFamily="34" charset="0"/>
                <a:ea typeface="Apple Symbols" panose="02000000000000000000" pitchFamily="2" charset="-79"/>
                <a:cs typeface="Calibri" panose="020F0502020204030204" pitchFamily="34" charset="0"/>
                <a:sym typeface="Muli"/>
                <a:rtl/>
              </a:rPr>
              <a:t>Mishel Svirsky, Tomer Natan</a:t>
            </a:r>
          </a:p>
        </p:txBody>
      </p:sp>
      <p:sp>
        <p:nvSpPr>
          <p:cNvPr id="9" name="Freeform 9"/>
          <p:cNvSpPr/>
          <p:nvPr/>
        </p:nvSpPr>
        <p:spPr>
          <a:xfrm>
            <a:off x="-685800" y="-853448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IL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41617" y="-190500"/>
            <a:ext cx="5333485" cy="7778750"/>
            <a:chOff x="0" y="0"/>
            <a:chExt cx="9404416" cy="13716099"/>
          </a:xfrm>
          <a:solidFill>
            <a:srgbClr val="5C9346"/>
          </a:solidFill>
        </p:grpSpPr>
        <p:sp>
          <p:nvSpPr>
            <p:cNvPr id="3" name="Freeform 3"/>
            <p:cNvSpPr/>
            <p:nvPr/>
          </p:nvSpPr>
          <p:spPr>
            <a:xfrm>
              <a:off x="0" y="127"/>
              <a:ext cx="9404477" cy="13715873"/>
            </a:xfrm>
            <a:custGeom>
              <a:avLst/>
              <a:gdLst/>
              <a:ahLst/>
              <a:cxnLst/>
              <a:rect l="l" t="t" r="r" b="b"/>
              <a:pathLst>
                <a:path w="9404477" h="13715873">
                  <a:moveTo>
                    <a:pt x="5384800" y="0"/>
                  </a:moveTo>
                  <a:lnTo>
                    <a:pt x="1541907" y="1401064"/>
                  </a:lnTo>
                  <a:cubicBezTo>
                    <a:pt x="559816" y="1759839"/>
                    <a:pt x="0" y="3027172"/>
                    <a:pt x="291973" y="4232529"/>
                  </a:cubicBezTo>
                  <a:lnTo>
                    <a:pt x="2592705" y="13715873"/>
                  </a:lnTo>
                  <a:lnTo>
                    <a:pt x="9404477" y="13715873"/>
                  </a:lnTo>
                  <a:lnTo>
                    <a:pt x="9404477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-1861035" y="787619"/>
            <a:ext cx="14209670" cy="92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532"/>
              </a:lnSpc>
            </a:pPr>
            <a:r>
              <a:rPr lang="en-US" sz="6000" b="1" dirty="0"/>
              <a:t>Current Hospital Workflow</a:t>
            </a:r>
            <a:endParaRPr lang="he-IL" sz="6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468600" y="6901898"/>
            <a:ext cx="5270400" cy="5270400"/>
            <a:chOff x="0" y="0"/>
            <a:chExt cx="7027200" cy="7027200"/>
          </a:xfrm>
          <a:solidFill>
            <a:srgbClr val="449EC2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7027164" cy="7027164"/>
            </a:xfrm>
            <a:custGeom>
              <a:avLst/>
              <a:gdLst/>
              <a:ahLst/>
              <a:cxnLst/>
              <a:rect l="l" t="t" r="r" b="b"/>
              <a:pathLst>
                <a:path w="7027164" h="7027164">
                  <a:moveTo>
                    <a:pt x="0" y="3513582"/>
                  </a:moveTo>
                  <a:cubicBezTo>
                    <a:pt x="0" y="1573149"/>
                    <a:pt x="1573149" y="0"/>
                    <a:pt x="3513582" y="0"/>
                  </a:cubicBezTo>
                  <a:cubicBezTo>
                    <a:pt x="5454015" y="0"/>
                    <a:pt x="7027164" y="1573149"/>
                    <a:pt x="7027164" y="3513582"/>
                  </a:cubicBezTo>
                  <a:cubicBezTo>
                    <a:pt x="7027164" y="5454015"/>
                    <a:pt x="5454142" y="7027164"/>
                    <a:pt x="3513582" y="7027164"/>
                  </a:cubicBezTo>
                  <a:cubicBezTo>
                    <a:pt x="1573022" y="7027164"/>
                    <a:pt x="0" y="5454142"/>
                    <a:pt x="0" y="3513582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7" name="Freeform 7"/>
          <p:cNvSpPr/>
          <p:nvPr/>
        </p:nvSpPr>
        <p:spPr>
          <a:xfrm>
            <a:off x="16687800" y="6007988"/>
            <a:ext cx="1787390" cy="1787820"/>
          </a:xfrm>
          <a:custGeom>
            <a:avLst/>
            <a:gdLst/>
            <a:ahLst/>
            <a:cxnLst/>
            <a:rect l="l" t="t" r="r" b="b"/>
            <a:pathLst>
              <a:path w="1787390" h="1787820">
                <a:moveTo>
                  <a:pt x="0" y="0"/>
                </a:moveTo>
                <a:lnTo>
                  <a:pt x="1787390" y="0"/>
                </a:lnTo>
                <a:lnTo>
                  <a:pt x="1787390" y="1787820"/>
                </a:lnTo>
                <a:lnTo>
                  <a:pt x="0" y="1787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8" name="Group 8"/>
          <p:cNvGrpSpPr/>
          <p:nvPr/>
        </p:nvGrpSpPr>
        <p:grpSpPr>
          <a:xfrm>
            <a:off x="16545600" y="984103"/>
            <a:ext cx="284400" cy="284400"/>
            <a:chOff x="0" y="0"/>
            <a:chExt cx="379200" cy="379200"/>
          </a:xfrm>
          <a:solidFill>
            <a:schemeClr val="accent1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379222" cy="379222"/>
            </a:xfrm>
            <a:custGeom>
              <a:avLst/>
              <a:gdLst/>
              <a:ahLst/>
              <a:cxnLst/>
              <a:rect l="l" t="t" r="r" b="b"/>
              <a:pathLst>
                <a:path w="379222" h="379222">
                  <a:moveTo>
                    <a:pt x="0" y="189611"/>
                  </a:moveTo>
                  <a:cubicBezTo>
                    <a:pt x="0" y="84836"/>
                    <a:pt x="84836" y="0"/>
                    <a:pt x="189611" y="0"/>
                  </a:cubicBezTo>
                  <a:cubicBezTo>
                    <a:pt x="294386" y="0"/>
                    <a:pt x="379222" y="84836"/>
                    <a:pt x="379222" y="189611"/>
                  </a:cubicBezTo>
                  <a:cubicBezTo>
                    <a:pt x="379222" y="294386"/>
                    <a:pt x="294259" y="379222"/>
                    <a:pt x="189611" y="379222"/>
                  </a:cubicBezTo>
                  <a:cubicBezTo>
                    <a:pt x="84963" y="379222"/>
                    <a:pt x="0" y="294259"/>
                    <a:pt x="0" y="18961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002386" y="153038"/>
            <a:ext cx="973200" cy="973200"/>
            <a:chOff x="0" y="0"/>
            <a:chExt cx="1297600" cy="1297600"/>
          </a:xfrm>
          <a:solidFill>
            <a:srgbClr val="449FC3"/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97686" cy="1297686"/>
            </a:xfrm>
            <a:custGeom>
              <a:avLst/>
              <a:gdLst/>
              <a:ahLst/>
              <a:cxnLst/>
              <a:rect l="l" t="t" r="r" b="b"/>
              <a:pathLst>
                <a:path w="1297686" h="1297686">
                  <a:moveTo>
                    <a:pt x="0" y="648843"/>
                  </a:moveTo>
                  <a:cubicBezTo>
                    <a:pt x="0" y="290449"/>
                    <a:pt x="290449" y="0"/>
                    <a:pt x="648843" y="0"/>
                  </a:cubicBezTo>
                  <a:cubicBezTo>
                    <a:pt x="1007237" y="0"/>
                    <a:pt x="1297686" y="290449"/>
                    <a:pt x="1297686" y="648843"/>
                  </a:cubicBezTo>
                  <a:cubicBezTo>
                    <a:pt x="1297686" y="1007237"/>
                    <a:pt x="1007237" y="1297686"/>
                    <a:pt x="648843" y="1297686"/>
                  </a:cubicBezTo>
                  <a:cubicBezTo>
                    <a:pt x="290449" y="1297686"/>
                    <a:pt x="0" y="1007110"/>
                    <a:pt x="0" y="64884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F52B33DC-2775-2260-B0FE-CC805BCFBBD5}"/>
              </a:ext>
            </a:extLst>
          </p:cNvPr>
          <p:cNvSpPr txBox="1"/>
          <p:nvPr/>
        </p:nvSpPr>
        <p:spPr>
          <a:xfrm>
            <a:off x="555617" y="2206268"/>
            <a:ext cx="13868400" cy="5062924"/>
          </a:xfrm>
          <a:prstGeom prst="rect">
            <a:avLst/>
          </a:prstGeom>
          <a:noFill/>
          <a:effectLst>
            <a:softEdge rad="635000"/>
          </a:effectLst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All nutrition-related information is managed in a centralized Excel file.</a:t>
            </a:r>
          </a:p>
          <a:p>
            <a:endParaRPr lang="en-US" sz="36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Kitchen staff use the Excel file to check patient allergies during meal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The same Excel file is shared and used by all relevant hospital staff.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3500" dirty="0"/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E3BD2D0E-21C6-825E-D259-D9B5F24E9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3866" y="6480813"/>
            <a:ext cx="5915502" cy="2844944"/>
          </a:xfrm>
          <a:prstGeom prst="rect">
            <a:avLst/>
          </a:prstGeom>
        </p:spPr>
      </p:pic>
      <p:pic>
        <p:nvPicPr>
          <p:cNvPr id="27" name="תמונה 26">
            <a:extLst>
              <a:ext uri="{FF2B5EF4-FFF2-40B4-BE49-F238E27FC236}">
                <a16:creationId xmlns:a16="http://schemas.microsoft.com/office/drawing/2014/main" id="{7553D2F6-63B7-BCE7-C374-897668FDB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11400" y="2240743"/>
            <a:ext cx="4543952" cy="2795021"/>
          </a:xfrm>
          <a:prstGeom prst="round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99000" y="-7107950"/>
            <a:ext cx="6344250" cy="9577550"/>
            <a:chOff x="0" y="0"/>
            <a:chExt cx="8459000" cy="12770067"/>
          </a:xfrm>
          <a:solidFill>
            <a:srgbClr val="449FC3"/>
          </a:solidFill>
        </p:grpSpPr>
        <p:sp>
          <p:nvSpPr>
            <p:cNvPr id="3" name="Freeform 3"/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>
                <a:latin typeface="+mj-lt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02900" y="1560000"/>
            <a:ext cx="325800" cy="325200"/>
            <a:chOff x="0" y="0"/>
            <a:chExt cx="434400" cy="433600"/>
          </a:xfrm>
          <a:solidFill>
            <a:schemeClr val="bg2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434340" cy="433578"/>
            </a:xfrm>
            <a:custGeom>
              <a:avLst/>
              <a:gdLst/>
              <a:ahLst/>
              <a:cxnLst/>
              <a:rect l="l" t="t" r="r" b="b"/>
              <a:pathLst>
                <a:path w="434340" h="433578">
                  <a:moveTo>
                    <a:pt x="0" y="216789"/>
                  </a:moveTo>
                  <a:cubicBezTo>
                    <a:pt x="0" y="97028"/>
                    <a:pt x="97282" y="0"/>
                    <a:pt x="217170" y="0"/>
                  </a:cubicBezTo>
                  <a:cubicBezTo>
                    <a:pt x="337058" y="0"/>
                    <a:pt x="434340" y="97028"/>
                    <a:pt x="434340" y="216789"/>
                  </a:cubicBezTo>
                  <a:cubicBezTo>
                    <a:pt x="434340" y="336550"/>
                    <a:pt x="337185" y="433578"/>
                    <a:pt x="217170" y="433578"/>
                  </a:cubicBezTo>
                  <a:cubicBezTo>
                    <a:pt x="97155" y="433578"/>
                    <a:pt x="0" y="336550"/>
                    <a:pt x="0" y="216789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>
                <a:latin typeface="+mj-lt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7113834" y="444812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6939500" y="3084344"/>
            <a:ext cx="319800" cy="319800"/>
            <a:chOff x="0" y="0"/>
            <a:chExt cx="426400" cy="426400"/>
          </a:xfrm>
          <a:solidFill>
            <a:srgbClr val="449FC3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426339" cy="426339"/>
            </a:xfrm>
            <a:custGeom>
              <a:avLst/>
              <a:gdLst/>
              <a:ahLst/>
              <a:cxnLst/>
              <a:rect l="l" t="t" r="r" b="b"/>
              <a:pathLst>
                <a:path w="426339" h="426339">
                  <a:moveTo>
                    <a:pt x="0" y="213233"/>
                  </a:moveTo>
                  <a:cubicBezTo>
                    <a:pt x="0" y="95504"/>
                    <a:pt x="95504" y="0"/>
                    <a:pt x="213233" y="0"/>
                  </a:cubicBezTo>
                  <a:cubicBezTo>
                    <a:pt x="330962" y="0"/>
                    <a:pt x="426339" y="95504"/>
                    <a:pt x="426339" y="213233"/>
                  </a:cubicBezTo>
                  <a:cubicBezTo>
                    <a:pt x="426339" y="330962"/>
                    <a:pt x="330962" y="426339"/>
                    <a:pt x="213233" y="426339"/>
                  </a:cubicBezTo>
                  <a:cubicBezTo>
                    <a:pt x="95504" y="426339"/>
                    <a:pt x="0" y="330962"/>
                    <a:pt x="0" y="21323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>
                <a:latin typeface="+mj-lt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39725" y="529292"/>
            <a:ext cx="13808550" cy="924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532"/>
              </a:lnSpc>
            </a:pPr>
            <a:r>
              <a:rPr lang="en-US" sz="6000" b="1" dirty="0"/>
              <a:t>Challenges and Motivation for Change</a:t>
            </a:r>
            <a:endParaRPr lang="he-IL" sz="6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25794" y="8010602"/>
            <a:ext cx="4753950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dirty="0"/>
              <a:t>As the number of products grows, the Excel file becomes harder to manage and maintain.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27022" y="8004086"/>
            <a:ext cx="5867128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dirty="0"/>
              <a:t>The dietitian is dependent on the Excel file and lacks convenient mobile access.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93839" y="3818208"/>
            <a:ext cx="4753950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dirty="0"/>
              <a:t>Working during peak hours with a complex Excel-based system is challenging and slows decision-making.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9484" y="3812504"/>
            <a:ext cx="6405126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dirty="0"/>
              <a:t>The Excel interface can be confusing for kitchen staff during fast-paced work.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35265" y="7401057"/>
            <a:ext cx="6072482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559"/>
              </a:lnSpc>
            </a:pPr>
            <a:r>
              <a:rPr lang="en-US" sz="4000" b="1" dirty="0"/>
              <a:t>Difficult Data Maintenance</a:t>
            </a:r>
            <a:endParaRPr lang="he-IL" sz="3799" b="1" dirty="0">
              <a:solidFill>
                <a:srgbClr val="343434"/>
              </a:solidFill>
              <a:latin typeface="+mj-lt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19269" y="7446345"/>
            <a:ext cx="6425554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439"/>
              </a:lnSpc>
            </a:pPr>
            <a:r>
              <a:rPr lang="en-US" sz="4000" b="1" dirty="0"/>
              <a:t>Limited Mobile Accessibility</a:t>
            </a:r>
            <a:endParaRPr lang="he-IL" sz="3699" b="1" dirty="0">
              <a:solidFill>
                <a:srgbClr val="343434"/>
              </a:solidFill>
              <a:latin typeface="+mj-lt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058400" y="3229115"/>
            <a:ext cx="6624829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559"/>
              </a:lnSpc>
            </a:pPr>
            <a:r>
              <a:rPr lang="en-US" sz="4000" b="1" dirty="0"/>
              <a:t>Peak-Time Decision Pressure</a:t>
            </a:r>
            <a:endParaRPr lang="he-IL" sz="3799" b="1" dirty="0">
              <a:solidFill>
                <a:srgbClr val="343434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485653" y="3244221"/>
            <a:ext cx="5492789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679"/>
              </a:lnSpc>
            </a:pPr>
            <a:r>
              <a:rPr lang="en-US" sz="4000" b="1" dirty="0"/>
              <a:t>Confusing User Interface</a:t>
            </a:r>
            <a:endParaRPr lang="he-IL" sz="3899" b="1" dirty="0">
              <a:solidFill>
                <a:srgbClr val="343434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pic>
        <p:nvPicPr>
          <p:cNvPr id="18" name="גרפיקה 17" descr="שעון עצר">
            <a:extLst>
              <a:ext uri="{FF2B5EF4-FFF2-40B4-BE49-F238E27FC236}">
                <a16:creationId xmlns:a16="http://schemas.microsoft.com/office/drawing/2014/main" id="{F354DA91-E687-E426-3A78-87313B0B6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73785" y="2149364"/>
            <a:ext cx="1194058" cy="1194058"/>
          </a:xfrm>
          <a:prstGeom prst="rect">
            <a:avLst/>
          </a:prstGeom>
        </p:spPr>
      </p:pic>
      <p:pic>
        <p:nvPicPr>
          <p:cNvPr id="27" name="גרפיקה 26" descr="ראש עם גלגלי שיניים">
            <a:extLst>
              <a:ext uri="{FF2B5EF4-FFF2-40B4-BE49-F238E27FC236}">
                <a16:creationId xmlns:a16="http://schemas.microsoft.com/office/drawing/2014/main" id="{3D3CBA80-0462-A70D-94D3-0223924A0A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0190" y="2264277"/>
            <a:ext cx="1003719" cy="1003719"/>
          </a:xfrm>
          <a:prstGeom prst="rect">
            <a:avLst/>
          </a:prstGeom>
        </p:spPr>
      </p:pic>
      <p:pic>
        <p:nvPicPr>
          <p:cNvPr id="30" name="גרפיקה 29" descr="מסמך">
            <a:extLst>
              <a:ext uri="{FF2B5EF4-FFF2-40B4-BE49-F238E27FC236}">
                <a16:creationId xmlns:a16="http://schemas.microsoft.com/office/drawing/2014/main" id="{D95FE1A9-746B-28F1-7FE3-405BBF2C03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43699" y="6458677"/>
            <a:ext cx="1054229" cy="1054229"/>
          </a:xfrm>
          <a:prstGeom prst="rect">
            <a:avLst/>
          </a:prstGeom>
        </p:spPr>
      </p:pic>
      <p:pic>
        <p:nvPicPr>
          <p:cNvPr id="32" name="גרפיקה 31" descr="טלפון חכם">
            <a:extLst>
              <a:ext uri="{FF2B5EF4-FFF2-40B4-BE49-F238E27FC236}">
                <a16:creationId xmlns:a16="http://schemas.microsoft.com/office/drawing/2014/main" id="{781D499D-5599-2F63-3510-329FAEAE64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04931" y="6413010"/>
            <a:ext cx="1054229" cy="105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91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D5D81-A9A3-A30D-82E7-1F8F4578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3FCFA0A-1263-E921-E6C9-52A28B651D35}"/>
              </a:ext>
            </a:extLst>
          </p:cNvPr>
          <p:cNvGrpSpPr/>
          <p:nvPr/>
        </p:nvGrpSpPr>
        <p:grpSpPr>
          <a:xfrm rot="13940968">
            <a:off x="11600086" y="-5753121"/>
            <a:ext cx="5254994" cy="6635165"/>
            <a:chOff x="0" y="0"/>
            <a:chExt cx="8459000" cy="12770067"/>
          </a:xfrm>
          <a:solidFill>
            <a:srgbClr val="449FC3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F142FF-2E1E-988E-5022-89ECFB7DB514}"/>
                </a:ext>
              </a:extLst>
            </p:cNvPr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>
                <a:latin typeface="+mj-lt"/>
              </a:endParaRPr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A99D9F1-C38C-3C86-5C01-008C92AF0925}"/>
              </a:ext>
            </a:extLst>
          </p:cNvPr>
          <p:cNvGrpSpPr/>
          <p:nvPr/>
        </p:nvGrpSpPr>
        <p:grpSpPr>
          <a:xfrm>
            <a:off x="13391946" y="936417"/>
            <a:ext cx="325800" cy="325200"/>
            <a:chOff x="0" y="0"/>
            <a:chExt cx="434400" cy="433600"/>
          </a:xfrm>
          <a:solidFill>
            <a:schemeClr val="bg2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E07BB9-6AB9-F382-858B-BFF74A2BDA06}"/>
                </a:ext>
              </a:extLst>
            </p:cNvPr>
            <p:cNvSpPr/>
            <p:nvPr/>
          </p:nvSpPr>
          <p:spPr>
            <a:xfrm>
              <a:off x="0" y="0"/>
              <a:ext cx="434340" cy="433578"/>
            </a:xfrm>
            <a:custGeom>
              <a:avLst/>
              <a:gdLst/>
              <a:ahLst/>
              <a:cxnLst/>
              <a:rect l="l" t="t" r="r" b="b"/>
              <a:pathLst>
                <a:path w="434340" h="433578">
                  <a:moveTo>
                    <a:pt x="0" y="216789"/>
                  </a:moveTo>
                  <a:cubicBezTo>
                    <a:pt x="0" y="97028"/>
                    <a:pt x="97282" y="0"/>
                    <a:pt x="217170" y="0"/>
                  </a:cubicBezTo>
                  <a:cubicBezTo>
                    <a:pt x="337058" y="0"/>
                    <a:pt x="434340" y="97028"/>
                    <a:pt x="434340" y="216789"/>
                  </a:cubicBezTo>
                  <a:cubicBezTo>
                    <a:pt x="434340" y="336550"/>
                    <a:pt x="337185" y="433578"/>
                    <a:pt x="217170" y="433578"/>
                  </a:cubicBezTo>
                  <a:cubicBezTo>
                    <a:pt x="97155" y="433578"/>
                    <a:pt x="0" y="336550"/>
                    <a:pt x="0" y="216789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>
                <a:latin typeface="+mj-lt"/>
              </a:endParaRPr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77ED7FC-CD03-0C3A-6EC0-EB7B2F1DFA67}"/>
              </a:ext>
            </a:extLst>
          </p:cNvPr>
          <p:cNvSpPr/>
          <p:nvPr/>
        </p:nvSpPr>
        <p:spPr>
          <a:xfrm>
            <a:off x="9729930" y="-1935005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AAC8683-5018-52D6-38FD-68B52C6B89AF}"/>
              </a:ext>
            </a:extLst>
          </p:cNvPr>
          <p:cNvGrpSpPr/>
          <p:nvPr/>
        </p:nvGrpSpPr>
        <p:grpSpPr>
          <a:xfrm>
            <a:off x="13605065" y="916777"/>
            <a:ext cx="319800" cy="319800"/>
            <a:chOff x="0" y="0"/>
            <a:chExt cx="426400" cy="426400"/>
          </a:xfrm>
          <a:solidFill>
            <a:srgbClr val="449FC3"/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7E3C4D5-A718-7A8C-515C-0B46069D5BBB}"/>
                </a:ext>
              </a:extLst>
            </p:cNvPr>
            <p:cNvSpPr/>
            <p:nvPr/>
          </p:nvSpPr>
          <p:spPr>
            <a:xfrm>
              <a:off x="0" y="0"/>
              <a:ext cx="426339" cy="426339"/>
            </a:xfrm>
            <a:custGeom>
              <a:avLst/>
              <a:gdLst/>
              <a:ahLst/>
              <a:cxnLst/>
              <a:rect l="l" t="t" r="r" b="b"/>
              <a:pathLst>
                <a:path w="426339" h="426339">
                  <a:moveTo>
                    <a:pt x="0" y="213233"/>
                  </a:moveTo>
                  <a:cubicBezTo>
                    <a:pt x="0" y="95504"/>
                    <a:pt x="95504" y="0"/>
                    <a:pt x="213233" y="0"/>
                  </a:cubicBezTo>
                  <a:cubicBezTo>
                    <a:pt x="330962" y="0"/>
                    <a:pt x="426339" y="95504"/>
                    <a:pt x="426339" y="213233"/>
                  </a:cubicBezTo>
                  <a:cubicBezTo>
                    <a:pt x="426339" y="330962"/>
                    <a:pt x="330962" y="426339"/>
                    <a:pt x="213233" y="426339"/>
                  </a:cubicBezTo>
                  <a:cubicBezTo>
                    <a:pt x="95504" y="426339"/>
                    <a:pt x="0" y="330962"/>
                    <a:pt x="0" y="21323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>
                <a:latin typeface="+mj-lt"/>
              </a:endParaRPr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9E01B1AC-1F3C-07BE-D467-E1D270420917}"/>
              </a:ext>
            </a:extLst>
          </p:cNvPr>
          <p:cNvSpPr txBox="1"/>
          <p:nvPr/>
        </p:nvSpPr>
        <p:spPr>
          <a:xfrm>
            <a:off x="1981200" y="1000156"/>
            <a:ext cx="13808550" cy="72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6000" b="1" dirty="0">
                <a:latin typeface="+mj-lt"/>
                <a:ea typeface="Spline Sans Bold" pitchFamily="34" charset="-122"/>
                <a:cs typeface="Spline Sans Bold" pitchFamily="34" charset="-120"/>
              </a:rPr>
              <a:t>Literature Review</a:t>
            </a:r>
            <a:endParaRPr lang="en-US" sz="6000" dirty="0">
              <a:latin typeface="+mj-lt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CDB3196-349B-7011-638A-94B44DF27032}"/>
              </a:ext>
            </a:extLst>
          </p:cNvPr>
          <p:cNvSpPr txBox="1"/>
          <p:nvPr/>
        </p:nvSpPr>
        <p:spPr>
          <a:xfrm>
            <a:off x="1828800" y="2359456"/>
            <a:ext cx="16025907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Research shows that nutrition-related errors in hospitals are common and can significantly impact patient safety[1].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DF8B55C3-E692-EF7E-127D-4A5D3991AFEC}"/>
              </a:ext>
            </a:extLst>
          </p:cNvPr>
          <p:cNvSpPr/>
          <p:nvPr/>
        </p:nvSpPr>
        <p:spPr>
          <a:xfrm rot="6042162">
            <a:off x="-4596188" y="5866364"/>
            <a:ext cx="5333520" cy="7778622"/>
          </a:xfrm>
          <a:custGeom>
            <a:avLst/>
            <a:gdLst/>
            <a:ahLst/>
            <a:cxnLst/>
            <a:rect l="l" t="t" r="r" b="b"/>
            <a:pathLst>
              <a:path w="9404477" h="13715873">
                <a:moveTo>
                  <a:pt x="5384800" y="0"/>
                </a:moveTo>
                <a:lnTo>
                  <a:pt x="1541907" y="1401064"/>
                </a:lnTo>
                <a:cubicBezTo>
                  <a:pt x="559816" y="1759839"/>
                  <a:pt x="0" y="3027172"/>
                  <a:pt x="291973" y="4232529"/>
                </a:cubicBezTo>
                <a:lnTo>
                  <a:pt x="2592705" y="13715873"/>
                </a:lnTo>
                <a:lnTo>
                  <a:pt x="9404477" y="13715873"/>
                </a:lnTo>
                <a:lnTo>
                  <a:pt x="9404477" y="0"/>
                </a:lnTo>
                <a:close/>
              </a:path>
            </a:pathLst>
          </a:custGeom>
          <a:solidFill>
            <a:srgbClr val="5C9346"/>
          </a:solidFill>
        </p:spPr>
        <p:txBody>
          <a:bodyPr/>
          <a:lstStyle/>
          <a:p>
            <a:endParaRPr lang="en-IL"/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E6341E5F-A9EA-F024-574E-FC964941DE51}"/>
              </a:ext>
            </a:extLst>
          </p:cNvPr>
          <p:cNvSpPr/>
          <p:nvPr/>
        </p:nvSpPr>
        <p:spPr>
          <a:xfrm rot="2356142">
            <a:off x="16087136" y="6715185"/>
            <a:ext cx="5333520" cy="7778622"/>
          </a:xfrm>
          <a:custGeom>
            <a:avLst/>
            <a:gdLst/>
            <a:ahLst/>
            <a:cxnLst/>
            <a:rect l="l" t="t" r="r" b="b"/>
            <a:pathLst>
              <a:path w="9404477" h="13715873">
                <a:moveTo>
                  <a:pt x="5384800" y="0"/>
                </a:moveTo>
                <a:lnTo>
                  <a:pt x="1541907" y="1401064"/>
                </a:lnTo>
                <a:cubicBezTo>
                  <a:pt x="559816" y="1759839"/>
                  <a:pt x="0" y="3027172"/>
                  <a:pt x="291973" y="4232529"/>
                </a:cubicBezTo>
                <a:lnTo>
                  <a:pt x="2592705" y="13715873"/>
                </a:lnTo>
                <a:lnTo>
                  <a:pt x="9404477" y="13715873"/>
                </a:lnTo>
                <a:lnTo>
                  <a:pt x="9404477" y="0"/>
                </a:lnTo>
                <a:close/>
              </a:path>
            </a:pathLst>
          </a:custGeom>
          <a:solidFill>
            <a:srgbClr val="5C9346"/>
          </a:solidFill>
        </p:spPr>
        <p:txBody>
          <a:bodyPr/>
          <a:lstStyle/>
          <a:p>
            <a:endParaRPr lang="en-IL"/>
          </a:p>
        </p:txBody>
      </p:sp>
      <p:pic>
        <p:nvPicPr>
          <p:cNvPr id="17" name="גרפיקה 16" descr="הפעל">
            <a:extLst>
              <a:ext uri="{FF2B5EF4-FFF2-40B4-BE49-F238E27FC236}">
                <a16:creationId xmlns:a16="http://schemas.microsoft.com/office/drawing/2014/main" id="{7E4A5A4A-D5B3-7363-FCF3-3AC8CECEE1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2400300"/>
            <a:ext cx="538990" cy="538990"/>
          </a:xfrm>
          <a:prstGeom prst="rect">
            <a:avLst/>
          </a:prstGeom>
        </p:spPr>
      </p:pic>
      <p:pic>
        <p:nvPicPr>
          <p:cNvPr id="19" name="גרפיקה 18" descr="הפעל">
            <a:extLst>
              <a:ext uri="{FF2B5EF4-FFF2-40B4-BE49-F238E27FC236}">
                <a16:creationId xmlns:a16="http://schemas.microsoft.com/office/drawing/2014/main" id="{8C422A76-0FEA-FF07-EF77-6800B57A3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3604495"/>
            <a:ext cx="538990" cy="538990"/>
          </a:xfrm>
          <a:prstGeom prst="rect">
            <a:avLst/>
          </a:prstGeom>
        </p:spPr>
      </p:pic>
      <p:sp>
        <p:nvSpPr>
          <p:cNvPr id="24" name="TextBox 13">
            <a:extLst>
              <a:ext uri="{FF2B5EF4-FFF2-40B4-BE49-F238E27FC236}">
                <a16:creationId xmlns:a16="http://schemas.microsoft.com/office/drawing/2014/main" id="{12211981-6C3F-9EF4-65AF-6BBF7B197A74}"/>
              </a:ext>
            </a:extLst>
          </p:cNvPr>
          <p:cNvSpPr txBox="1"/>
          <p:nvPr/>
        </p:nvSpPr>
        <p:spPr>
          <a:xfrm>
            <a:off x="1828800" y="3504827"/>
            <a:ext cx="16025907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Studies highlight that digital nutrition and allergy management systems reduce errors in meal preparation and delivery[1][2].</a:t>
            </a:r>
          </a:p>
        </p:txBody>
      </p:sp>
      <p:pic>
        <p:nvPicPr>
          <p:cNvPr id="25" name="גרפיקה 24" descr="הפעל">
            <a:extLst>
              <a:ext uri="{FF2B5EF4-FFF2-40B4-BE49-F238E27FC236}">
                <a16:creationId xmlns:a16="http://schemas.microsoft.com/office/drawing/2014/main" id="{5B977B66-C30D-1A41-C44F-1E4FC328A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213" y="4808690"/>
            <a:ext cx="538990" cy="538990"/>
          </a:xfrm>
          <a:prstGeom prst="rect">
            <a:avLst/>
          </a:prstGeom>
        </p:spPr>
      </p:pic>
      <p:sp>
        <p:nvSpPr>
          <p:cNvPr id="28" name="TextBox 13">
            <a:extLst>
              <a:ext uri="{FF2B5EF4-FFF2-40B4-BE49-F238E27FC236}">
                <a16:creationId xmlns:a16="http://schemas.microsoft.com/office/drawing/2014/main" id="{6B78CDC7-127A-52D3-10FD-178806A67D6E}"/>
              </a:ext>
            </a:extLst>
          </p:cNvPr>
          <p:cNvSpPr txBox="1"/>
          <p:nvPr/>
        </p:nvSpPr>
        <p:spPr>
          <a:xfrm>
            <a:off x="1828799" y="4654618"/>
            <a:ext cx="16025907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Existing research emphasizes that poor usability and complex interfaces limit the effectiveness of digital health systems[3].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65C488C9-D2C0-C776-F259-D453AF11C26F}"/>
              </a:ext>
            </a:extLst>
          </p:cNvPr>
          <p:cNvSpPr txBox="1"/>
          <p:nvPr/>
        </p:nvSpPr>
        <p:spPr>
          <a:xfrm>
            <a:off x="1131046" y="6364250"/>
            <a:ext cx="16025907" cy="1107996"/>
          </a:xfrm>
          <a:prstGeom prst="rect">
            <a:avLst/>
          </a:prstGeom>
          <a:solidFill>
            <a:srgbClr val="449EC2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highlight>
                  <a:srgbClr val="449EC2"/>
                </a:highlight>
              </a:rPr>
              <a:t>The literature supports the need for a simple, reliable, and workflow-oriented system for hospital nutrition management !</a:t>
            </a:r>
          </a:p>
        </p:txBody>
      </p:sp>
      <p:pic>
        <p:nvPicPr>
          <p:cNvPr id="34" name="גרפיקה 33" descr="ספרים">
            <a:extLst>
              <a:ext uri="{FF2B5EF4-FFF2-40B4-BE49-F238E27FC236}">
                <a16:creationId xmlns:a16="http://schemas.microsoft.com/office/drawing/2014/main" id="{9B61E7FD-86CF-CA7B-14B9-695CB41C94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18182" y="7903149"/>
            <a:ext cx="1847496" cy="1847496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BA2F3EF-4EEA-CE7E-C123-ADD5476D7D19}"/>
              </a:ext>
            </a:extLst>
          </p:cNvPr>
          <p:cNvSpPr txBox="1"/>
          <p:nvPr/>
        </p:nvSpPr>
        <p:spPr>
          <a:xfrm>
            <a:off x="1942496" y="8826897"/>
            <a:ext cx="13939010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600" dirty="0"/>
              <a:t>[1] </a:t>
            </a:r>
            <a:r>
              <a:rPr lang="fr-FR" sz="2600" dirty="0"/>
              <a:t>Davis </a:t>
            </a:r>
            <a:r>
              <a:rPr lang="fr-FR" sz="2600" dirty="0" err="1"/>
              <a:t>Austria</a:t>
            </a:r>
            <a:r>
              <a:rPr lang="fr-FR" sz="2600" dirty="0"/>
              <a:t> et al. (2024)</a:t>
            </a:r>
          </a:p>
          <a:p>
            <a:r>
              <a:rPr lang="fr-FR" sz="2600" dirty="0"/>
              <a:t>[2] </a:t>
            </a:r>
            <a:r>
              <a:rPr lang="en-US" sz="2600" dirty="0"/>
              <a:t>Naisby et al. (2025)</a:t>
            </a:r>
          </a:p>
          <a:p>
            <a:r>
              <a:rPr lang="en-US" sz="2600" dirty="0"/>
              <a:t>[3] Mandracchia et al. (2020)</a:t>
            </a:r>
            <a:endParaRPr lang="he-IL" sz="2600" dirty="0"/>
          </a:p>
        </p:txBody>
      </p:sp>
    </p:spTree>
    <p:extLst>
      <p:ext uri="{BB962C8B-B14F-4D97-AF65-F5344CB8AC3E}">
        <p14:creationId xmlns:p14="http://schemas.microsoft.com/office/powerpoint/2010/main" val="56666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74966" y="1257300"/>
            <a:ext cx="8058000" cy="8058000"/>
            <a:chOff x="0" y="0"/>
            <a:chExt cx="10744000" cy="10744000"/>
          </a:xfrm>
          <a:solidFill>
            <a:srgbClr val="449FC3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0743946" cy="10743946"/>
            </a:xfrm>
            <a:custGeom>
              <a:avLst/>
              <a:gdLst/>
              <a:ahLst/>
              <a:cxnLst/>
              <a:rect l="l" t="t" r="r" b="b"/>
              <a:pathLst>
                <a:path w="10743946" h="10743946">
                  <a:moveTo>
                    <a:pt x="0" y="5371973"/>
                  </a:moveTo>
                  <a:cubicBezTo>
                    <a:pt x="0" y="2405126"/>
                    <a:pt x="2405126" y="0"/>
                    <a:pt x="5371973" y="0"/>
                  </a:cubicBezTo>
                  <a:cubicBezTo>
                    <a:pt x="8338820" y="0"/>
                    <a:pt x="10743946" y="2405126"/>
                    <a:pt x="10743946" y="5371973"/>
                  </a:cubicBezTo>
                  <a:cubicBezTo>
                    <a:pt x="10743946" y="8338820"/>
                    <a:pt x="8338820" y="10743946"/>
                    <a:pt x="5371973" y="10743946"/>
                  </a:cubicBezTo>
                  <a:cubicBezTo>
                    <a:pt x="2405126" y="10743946"/>
                    <a:pt x="0" y="8338820"/>
                    <a:pt x="0" y="5371973"/>
                  </a:cubicBezTo>
                  <a:close/>
                  <a:moveTo>
                    <a:pt x="1916938" y="5371973"/>
                  </a:moveTo>
                  <a:cubicBezTo>
                    <a:pt x="1916938" y="7280148"/>
                    <a:pt x="3463798" y="8827008"/>
                    <a:pt x="5371973" y="8827008"/>
                  </a:cubicBezTo>
                  <a:cubicBezTo>
                    <a:pt x="7280148" y="8827008"/>
                    <a:pt x="8827008" y="7280148"/>
                    <a:pt x="8827008" y="5371973"/>
                  </a:cubicBezTo>
                  <a:cubicBezTo>
                    <a:pt x="8827008" y="3463798"/>
                    <a:pt x="7280148" y="1916938"/>
                    <a:pt x="5371973" y="1916938"/>
                  </a:cubicBezTo>
                  <a:cubicBezTo>
                    <a:pt x="3463798" y="1916938"/>
                    <a:pt x="1916938" y="3463798"/>
                    <a:pt x="1916938" y="537197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927938" y="6864200"/>
            <a:ext cx="948000" cy="948000"/>
            <a:chOff x="0" y="0"/>
            <a:chExt cx="1264000" cy="12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4031" cy="1264031"/>
            </a:xfrm>
            <a:custGeom>
              <a:avLst/>
              <a:gdLst/>
              <a:ahLst/>
              <a:cxnLst/>
              <a:rect l="l" t="t" r="r" b="b"/>
              <a:pathLst>
                <a:path w="1264031" h="1264031">
                  <a:moveTo>
                    <a:pt x="0" y="631952"/>
                  </a:moveTo>
                  <a:cubicBezTo>
                    <a:pt x="0" y="282956"/>
                    <a:pt x="282956" y="0"/>
                    <a:pt x="631952" y="0"/>
                  </a:cubicBezTo>
                  <a:cubicBezTo>
                    <a:pt x="980948" y="0"/>
                    <a:pt x="1264031" y="282956"/>
                    <a:pt x="1264031" y="631952"/>
                  </a:cubicBezTo>
                  <a:cubicBezTo>
                    <a:pt x="1264031" y="980948"/>
                    <a:pt x="981075" y="1264031"/>
                    <a:pt x="631952" y="1264031"/>
                  </a:cubicBezTo>
                  <a:cubicBezTo>
                    <a:pt x="282829" y="1264031"/>
                    <a:pt x="0" y="981075"/>
                    <a:pt x="0" y="63195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6" name="Freeform 6"/>
          <p:cNvSpPr/>
          <p:nvPr/>
        </p:nvSpPr>
        <p:spPr>
          <a:xfrm>
            <a:off x="15604402" y="5329798"/>
            <a:ext cx="1562348" cy="1562724"/>
          </a:xfrm>
          <a:custGeom>
            <a:avLst/>
            <a:gdLst/>
            <a:ahLst/>
            <a:cxnLst/>
            <a:rect l="l" t="t" r="r" b="b"/>
            <a:pathLst>
              <a:path w="1562348" h="1562724">
                <a:moveTo>
                  <a:pt x="0" y="0"/>
                </a:moveTo>
                <a:lnTo>
                  <a:pt x="1562348" y="0"/>
                </a:lnTo>
                <a:lnTo>
                  <a:pt x="1562348" y="1562724"/>
                </a:lnTo>
                <a:lnTo>
                  <a:pt x="0" y="156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7" name="Group 7"/>
          <p:cNvGrpSpPr/>
          <p:nvPr/>
        </p:nvGrpSpPr>
        <p:grpSpPr>
          <a:xfrm>
            <a:off x="16686300" y="3050575"/>
            <a:ext cx="573000" cy="572400"/>
            <a:chOff x="0" y="0"/>
            <a:chExt cx="764000" cy="763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4032" cy="763143"/>
            </a:xfrm>
            <a:custGeom>
              <a:avLst/>
              <a:gdLst/>
              <a:ahLst/>
              <a:cxnLst/>
              <a:rect l="l" t="t" r="r" b="b"/>
              <a:pathLst>
                <a:path w="764032" h="763143">
                  <a:moveTo>
                    <a:pt x="0" y="381635"/>
                  </a:moveTo>
                  <a:cubicBezTo>
                    <a:pt x="0" y="170815"/>
                    <a:pt x="171069" y="0"/>
                    <a:pt x="382016" y="0"/>
                  </a:cubicBezTo>
                  <a:cubicBezTo>
                    <a:pt x="592963" y="0"/>
                    <a:pt x="764032" y="170815"/>
                    <a:pt x="764032" y="381635"/>
                  </a:cubicBezTo>
                  <a:cubicBezTo>
                    <a:pt x="764032" y="592455"/>
                    <a:pt x="592963" y="763143"/>
                    <a:pt x="382016" y="763143"/>
                  </a:cubicBezTo>
                  <a:cubicBezTo>
                    <a:pt x="171069" y="763143"/>
                    <a:pt x="0" y="592328"/>
                    <a:pt x="0" y="381635"/>
                  </a:cubicBezTo>
                  <a:close/>
                </a:path>
              </a:pathLst>
            </a:custGeom>
            <a:solidFill>
              <a:srgbClr val="343434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506673"/>
            <a:ext cx="16104479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9600"/>
              </a:lnSpc>
            </a:pPr>
            <a:r>
              <a:rPr lang="en-US" sz="8000" b="1" dirty="0"/>
              <a:t>Existing Solutions and Market Gaps</a:t>
            </a:r>
            <a:endParaRPr lang="he-IL" sz="8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pic>
        <p:nvPicPr>
          <p:cNvPr id="20" name="גרפיקה 19" descr="דיאגרמת חיתוך קבוצות (Venn)">
            <a:extLst>
              <a:ext uri="{FF2B5EF4-FFF2-40B4-BE49-F238E27FC236}">
                <a16:creationId xmlns:a16="http://schemas.microsoft.com/office/drawing/2014/main" id="{354CE696-A895-B6BC-9F09-93907BB233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57494">
            <a:off x="17028484" y="567684"/>
            <a:ext cx="2077604" cy="2077604"/>
          </a:xfrm>
          <a:prstGeom prst="rect">
            <a:avLst/>
          </a:prstGeom>
        </p:spPr>
      </p:pic>
      <p:graphicFrame>
        <p:nvGraphicFramePr>
          <p:cNvPr id="22" name="טבלה 21">
            <a:extLst>
              <a:ext uri="{FF2B5EF4-FFF2-40B4-BE49-F238E27FC236}">
                <a16:creationId xmlns:a16="http://schemas.microsoft.com/office/drawing/2014/main" id="{318CDEA9-2E93-0BBB-DA50-36D103EF9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20744"/>
              </p:ext>
            </p:extLst>
          </p:nvPr>
        </p:nvGraphicFramePr>
        <p:xfrm>
          <a:off x="419076" y="2628900"/>
          <a:ext cx="15430524" cy="6400802"/>
        </p:xfrm>
        <a:graphic>
          <a:graphicData uri="http://schemas.openxmlformats.org/drawingml/2006/table">
            <a:tbl>
              <a:tblPr rtl="1" firstRow="1" bandRow="1">
                <a:tableStyleId>{7DF18680-E054-41AD-8BC1-D1AEF772440D}</a:tableStyleId>
              </a:tblPr>
              <a:tblGrid>
                <a:gridCol w="5143508">
                  <a:extLst>
                    <a:ext uri="{9D8B030D-6E8A-4147-A177-3AD203B41FA5}">
                      <a16:colId xmlns:a16="http://schemas.microsoft.com/office/drawing/2014/main" val="3822454715"/>
                    </a:ext>
                  </a:extLst>
                </a:gridCol>
                <a:gridCol w="5143508">
                  <a:extLst>
                    <a:ext uri="{9D8B030D-6E8A-4147-A177-3AD203B41FA5}">
                      <a16:colId xmlns:a16="http://schemas.microsoft.com/office/drawing/2014/main" val="4236821181"/>
                    </a:ext>
                  </a:extLst>
                </a:gridCol>
                <a:gridCol w="5143508">
                  <a:extLst>
                    <a:ext uri="{9D8B030D-6E8A-4147-A177-3AD203B41FA5}">
                      <a16:colId xmlns:a16="http://schemas.microsoft.com/office/drawing/2014/main" val="2554633461"/>
                    </a:ext>
                  </a:extLst>
                </a:gridCol>
              </a:tblGrid>
              <a:tr h="1100362"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Limitations</a:t>
                      </a:r>
                      <a:r>
                        <a:rPr lang="en-US" dirty="0"/>
                        <a:t> 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/>
                        <a:t>Strengths</a:t>
                      </a:r>
                      <a:endParaRPr lang="he-IL" sz="3600" dirty="0"/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Solution</a:t>
                      </a:r>
                      <a:endParaRPr lang="he-IL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073498"/>
                  </a:ext>
                </a:extLst>
              </a:tr>
              <a:tr h="1325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/>
                        <a:t>High error risk, Manual work, Complex UI</a:t>
                      </a:r>
                      <a:endParaRPr lang="he-IL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/>
                        <a:t>Flexible, low cost</a:t>
                      </a:r>
                      <a:endParaRPr lang="he-IL" sz="3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1" dirty="0"/>
                        <a:t>Excel (Manual)</a:t>
                      </a:r>
                      <a:endParaRPr lang="he-IL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431912"/>
                  </a:ext>
                </a:extLst>
              </a:tr>
              <a:tr h="1325110"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Not designed for kitchen workflow, Complex UI</a:t>
                      </a:r>
                      <a:endParaRPr lang="he-IL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Clinical integration</a:t>
                      </a:r>
                      <a:endParaRPr lang="he-IL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1" dirty="0"/>
                        <a:t>EMR Systems (e.g., Chameleon)</a:t>
                      </a:r>
                      <a:endParaRPr lang="he-IL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567484"/>
                  </a:ext>
                </a:extLst>
              </a:tr>
              <a:tr h="1325110"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Lacks clinical diet context</a:t>
                      </a:r>
                      <a:endParaRPr lang="he-IL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Modern UI, allergen automation</a:t>
                      </a:r>
                      <a:endParaRPr lang="he-IL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1" dirty="0"/>
                        <a:t>SaaS Tools (e.g., </a:t>
                      </a:r>
                      <a:r>
                        <a:rPr lang="en-US" sz="3600" b="1" dirty="0" err="1"/>
                        <a:t>Nutritics</a:t>
                      </a:r>
                      <a:r>
                        <a:rPr lang="en-US" sz="3600" b="1" dirty="0"/>
                        <a:t>)</a:t>
                      </a:r>
                      <a:endParaRPr lang="he-IL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82512"/>
                  </a:ext>
                </a:extLst>
              </a:tr>
              <a:tr h="1325110"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Very expensive and complex</a:t>
                      </a:r>
                      <a:endParaRPr lang="he-IL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dirty="0"/>
                        <a:t>Comprehensive, safe</a:t>
                      </a:r>
                      <a:endParaRPr lang="he-IL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3600" b="1" dirty="0"/>
                        <a:t>Enterprise Systems (e.g., CBORD)</a:t>
                      </a:r>
                      <a:endParaRPr lang="he-IL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55231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2966" y="7929607"/>
            <a:ext cx="8058000" cy="8058000"/>
            <a:chOff x="0" y="0"/>
            <a:chExt cx="10744000" cy="10744000"/>
          </a:xfrm>
          <a:solidFill>
            <a:srgbClr val="449FC3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10743946" cy="10743946"/>
            </a:xfrm>
            <a:custGeom>
              <a:avLst/>
              <a:gdLst/>
              <a:ahLst/>
              <a:cxnLst/>
              <a:rect l="l" t="t" r="r" b="b"/>
              <a:pathLst>
                <a:path w="10743946" h="10743946">
                  <a:moveTo>
                    <a:pt x="0" y="5371973"/>
                  </a:moveTo>
                  <a:cubicBezTo>
                    <a:pt x="0" y="2405126"/>
                    <a:pt x="2405126" y="0"/>
                    <a:pt x="5371973" y="0"/>
                  </a:cubicBezTo>
                  <a:cubicBezTo>
                    <a:pt x="8338820" y="0"/>
                    <a:pt x="10743946" y="2405126"/>
                    <a:pt x="10743946" y="5371973"/>
                  </a:cubicBezTo>
                  <a:cubicBezTo>
                    <a:pt x="10743946" y="8338820"/>
                    <a:pt x="8338820" y="10743946"/>
                    <a:pt x="5371973" y="10743946"/>
                  </a:cubicBezTo>
                  <a:cubicBezTo>
                    <a:pt x="2405126" y="10743946"/>
                    <a:pt x="0" y="8338820"/>
                    <a:pt x="0" y="5371973"/>
                  </a:cubicBezTo>
                  <a:close/>
                  <a:moveTo>
                    <a:pt x="1916938" y="5371973"/>
                  </a:moveTo>
                  <a:cubicBezTo>
                    <a:pt x="1916938" y="7280148"/>
                    <a:pt x="3463798" y="8827008"/>
                    <a:pt x="5371973" y="8827008"/>
                  </a:cubicBezTo>
                  <a:cubicBezTo>
                    <a:pt x="7280148" y="8827008"/>
                    <a:pt x="8827008" y="7280148"/>
                    <a:pt x="8827008" y="5371973"/>
                  </a:cubicBezTo>
                  <a:cubicBezTo>
                    <a:pt x="8827008" y="3463798"/>
                    <a:pt x="7280148" y="1916938"/>
                    <a:pt x="5371973" y="1916938"/>
                  </a:cubicBezTo>
                  <a:cubicBezTo>
                    <a:pt x="3463798" y="1916938"/>
                    <a:pt x="1916938" y="3463798"/>
                    <a:pt x="1916938" y="537197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762293" y="8300780"/>
            <a:ext cx="948000" cy="948000"/>
            <a:chOff x="0" y="0"/>
            <a:chExt cx="1264000" cy="126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4031" cy="1264031"/>
            </a:xfrm>
            <a:custGeom>
              <a:avLst/>
              <a:gdLst/>
              <a:ahLst/>
              <a:cxnLst/>
              <a:rect l="l" t="t" r="r" b="b"/>
              <a:pathLst>
                <a:path w="1264031" h="1264031">
                  <a:moveTo>
                    <a:pt x="0" y="631952"/>
                  </a:moveTo>
                  <a:cubicBezTo>
                    <a:pt x="0" y="282956"/>
                    <a:pt x="282956" y="0"/>
                    <a:pt x="631952" y="0"/>
                  </a:cubicBezTo>
                  <a:cubicBezTo>
                    <a:pt x="980948" y="0"/>
                    <a:pt x="1264031" y="282956"/>
                    <a:pt x="1264031" y="631952"/>
                  </a:cubicBezTo>
                  <a:cubicBezTo>
                    <a:pt x="1264031" y="980948"/>
                    <a:pt x="981075" y="1264031"/>
                    <a:pt x="631952" y="1264031"/>
                  </a:cubicBezTo>
                  <a:cubicBezTo>
                    <a:pt x="282829" y="1264031"/>
                    <a:pt x="0" y="981075"/>
                    <a:pt x="0" y="63195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6" name="Freeform 6"/>
          <p:cNvSpPr/>
          <p:nvPr/>
        </p:nvSpPr>
        <p:spPr>
          <a:xfrm>
            <a:off x="5791200" y="9182100"/>
            <a:ext cx="1562348" cy="1562724"/>
          </a:xfrm>
          <a:custGeom>
            <a:avLst/>
            <a:gdLst/>
            <a:ahLst/>
            <a:cxnLst/>
            <a:rect l="l" t="t" r="r" b="b"/>
            <a:pathLst>
              <a:path w="1562348" h="1562724">
                <a:moveTo>
                  <a:pt x="0" y="0"/>
                </a:moveTo>
                <a:lnTo>
                  <a:pt x="1562348" y="0"/>
                </a:lnTo>
                <a:lnTo>
                  <a:pt x="1562348" y="1562724"/>
                </a:lnTo>
                <a:lnTo>
                  <a:pt x="0" y="156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7" name="Group 7"/>
          <p:cNvGrpSpPr/>
          <p:nvPr/>
        </p:nvGrpSpPr>
        <p:grpSpPr>
          <a:xfrm>
            <a:off x="17634729" y="9115596"/>
            <a:ext cx="573000" cy="572400"/>
            <a:chOff x="0" y="0"/>
            <a:chExt cx="764000" cy="763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4032" cy="763143"/>
            </a:xfrm>
            <a:custGeom>
              <a:avLst/>
              <a:gdLst/>
              <a:ahLst/>
              <a:cxnLst/>
              <a:rect l="l" t="t" r="r" b="b"/>
              <a:pathLst>
                <a:path w="764032" h="763143">
                  <a:moveTo>
                    <a:pt x="0" y="381635"/>
                  </a:moveTo>
                  <a:cubicBezTo>
                    <a:pt x="0" y="170815"/>
                    <a:pt x="171069" y="0"/>
                    <a:pt x="382016" y="0"/>
                  </a:cubicBezTo>
                  <a:cubicBezTo>
                    <a:pt x="592963" y="0"/>
                    <a:pt x="764032" y="170815"/>
                    <a:pt x="764032" y="381635"/>
                  </a:cubicBezTo>
                  <a:cubicBezTo>
                    <a:pt x="764032" y="592455"/>
                    <a:pt x="592963" y="763143"/>
                    <a:pt x="382016" y="763143"/>
                  </a:cubicBezTo>
                  <a:cubicBezTo>
                    <a:pt x="171069" y="763143"/>
                    <a:pt x="0" y="592328"/>
                    <a:pt x="0" y="381635"/>
                  </a:cubicBezTo>
                  <a:close/>
                </a:path>
              </a:pathLst>
            </a:custGeom>
            <a:solidFill>
              <a:srgbClr val="343434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30821" y="414337"/>
            <a:ext cx="1605934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rtl="1">
              <a:lnSpc>
                <a:spcPts val="9600"/>
              </a:lnSpc>
            </a:pPr>
            <a:r>
              <a:rPr lang="en-US" sz="8000" b="1" dirty="0"/>
              <a:t>Project Goal</a:t>
            </a:r>
            <a:r>
              <a:rPr lang="en-US" sz="8000" dirty="0"/>
              <a:t> </a:t>
            </a:r>
            <a:endParaRPr lang="he-IL" sz="8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C6E0D343-D962-D60A-F54D-CB0FCDD52A65}"/>
              </a:ext>
            </a:extLst>
          </p:cNvPr>
          <p:cNvSpPr txBox="1"/>
          <p:nvPr/>
        </p:nvSpPr>
        <p:spPr>
          <a:xfrm>
            <a:off x="1392966" y="1943100"/>
            <a:ext cx="14325600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/>
              <a:t>• Design a simple and intuitive nutrition management system for hospitals.</a:t>
            </a:r>
          </a:p>
          <a:p>
            <a:r>
              <a:rPr lang="en-US" sz="3600" dirty="0"/>
              <a:t> </a:t>
            </a:r>
          </a:p>
          <a:p>
            <a:r>
              <a:rPr lang="en-US" sz="3600" dirty="0"/>
              <a:t>• Support safe food selection based on allergies and feeding limitations. </a:t>
            </a:r>
          </a:p>
          <a:p>
            <a:endParaRPr lang="en-US" sz="3600" dirty="0"/>
          </a:p>
          <a:p>
            <a:r>
              <a:rPr lang="en-US" sz="3600" dirty="0"/>
              <a:t>• Improve decision-making for dietitians and kitchen staff during daily work.</a:t>
            </a:r>
          </a:p>
          <a:p>
            <a:endParaRPr lang="en-US" sz="3600" dirty="0"/>
          </a:p>
          <a:p>
            <a:r>
              <a:rPr lang="en-US" sz="3600" dirty="0"/>
              <a:t>• Enable dietitians to work in a more convenient and safer manner. </a:t>
            </a:r>
          </a:p>
          <a:p>
            <a:endParaRPr lang="he-IL" dirty="0"/>
          </a:p>
        </p:txBody>
      </p:sp>
      <p:pic>
        <p:nvPicPr>
          <p:cNvPr id="21" name="גרפיקה 20" descr="רופא">
            <a:extLst>
              <a:ext uri="{FF2B5EF4-FFF2-40B4-BE49-F238E27FC236}">
                <a16:creationId xmlns:a16="http://schemas.microsoft.com/office/drawing/2014/main" id="{DE760F8B-7A81-41B4-F00E-CAC9619CA4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49200" y="6972300"/>
            <a:ext cx="4038600" cy="403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4D321-7801-6BF8-C782-5DD2F1E9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DC8144-0FDF-8458-2928-9B66FD5202C4}"/>
              </a:ext>
            </a:extLst>
          </p:cNvPr>
          <p:cNvSpPr/>
          <p:nvPr/>
        </p:nvSpPr>
        <p:spPr>
          <a:xfrm>
            <a:off x="17087704" y="-1271514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67D1862-44E8-5FD0-481F-99501F3FAFA6}"/>
              </a:ext>
            </a:extLst>
          </p:cNvPr>
          <p:cNvGrpSpPr/>
          <p:nvPr/>
        </p:nvGrpSpPr>
        <p:grpSpPr>
          <a:xfrm>
            <a:off x="-4260219" y="-6582623"/>
            <a:ext cx="6344250" cy="9577550"/>
            <a:chOff x="0" y="0"/>
            <a:chExt cx="8459000" cy="12770067"/>
          </a:xfrm>
          <a:solidFill>
            <a:srgbClr val="449FC3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E9B7948-542D-89E4-8735-F0FBFF989012}"/>
                </a:ext>
              </a:extLst>
            </p:cNvPr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51BDC32-E331-A0B5-26D6-76299E045986}"/>
              </a:ext>
            </a:extLst>
          </p:cNvPr>
          <p:cNvSpPr/>
          <p:nvPr/>
        </p:nvSpPr>
        <p:spPr>
          <a:xfrm>
            <a:off x="883878" y="396796"/>
            <a:ext cx="1520526" cy="1520892"/>
          </a:xfrm>
          <a:custGeom>
            <a:avLst/>
            <a:gdLst/>
            <a:ahLst/>
            <a:cxnLst/>
            <a:rect l="l" t="t" r="r" b="b"/>
            <a:pathLst>
              <a:path w="1520526" h="1520892">
                <a:moveTo>
                  <a:pt x="0" y="0"/>
                </a:moveTo>
                <a:lnTo>
                  <a:pt x="1520526" y="0"/>
                </a:lnTo>
                <a:lnTo>
                  <a:pt x="1520526" y="1520892"/>
                </a:lnTo>
                <a:lnTo>
                  <a:pt x="0" y="152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CEE6ADA-A364-7DB0-8438-021E5D3182A4}"/>
              </a:ext>
            </a:extLst>
          </p:cNvPr>
          <p:cNvGrpSpPr/>
          <p:nvPr/>
        </p:nvGrpSpPr>
        <p:grpSpPr>
          <a:xfrm>
            <a:off x="-294955" y="2363663"/>
            <a:ext cx="516600" cy="516600"/>
            <a:chOff x="0" y="0"/>
            <a:chExt cx="688800" cy="688800"/>
          </a:xfrm>
          <a:solidFill>
            <a:srgbClr val="5C9346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F939A73-B2AE-5682-0F5F-4C398FDD0FC2}"/>
                </a:ext>
              </a:extLst>
            </p:cNvPr>
            <p:cNvSpPr/>
            <p:nvPr/>
          </p:nvSpPr>
          <p:spPr>
            <a:xfrm>
              <a:off x="0" y="0"/>
              <a:ext cx="688848" cy="688848"/>
            </a:xfrm>
            <a:custGeom>
              <a:avLst/>
              <a:gdLst/>
              <a:ahLst/>
              <a:cxnLst/>
              <a:rect l="l" t="t" r="r" b="b"/>
              <a:pathLst>
                <a:path w="688848" h="688848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848" y="154178"/>
                    <a:pt x="688848" y="344424"/>
                  </a:cubicBezTo>
                  <a:cubicBezTo>
                    <a:pt x="688848" y="534670"/>
                    <a:pt x="534670" y="688848"/>
                    <a:pt x="344424" y="688848"/>
                  </a:cubicBezTo>
                  <a:cubicBezTo>
                    <a:pt x="154178" y="688848"/>
                    <a:pt x="0" y="534670"/>
                    <a:pt x="0" y="34442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8C42842-A1E2-CB31-2CB9-6E1F82645162}"/>
              </a:ext>
            </a:extLst>
          </p:cNvPr>
          <p:cNvGrpSpPr/>
          <p:nvPr/>
        </p:nvGrpSpPr>
        <p:grpSpPr>
          <a:xfrm>
            <a:off x="61768" y="1761539"/>
            <a:ext cx="319800" cy="319800"/>
            <a:chOff x="0" y="0"/>
            <a:chExt cx="426400" cy="426400"/>
          </a:xfrm>
          <a:solidFill>
            <a:srgbClr val="5C9346"/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19E15B6-FB9C-A1E3-92E1-FEE6DA96FD76}"/>
                </a:ext>
              </a:extLst>
            </p:cNvPr>
            <p:cNvSpPr/>
            <p:nvPr/>
          </p:nvSpPr>
          <p:spPr>
            <a:xfrm>
              <a:off x="0" y="0"/>
              <a:ext cx="426339" cy="426339"/>
            </a:xfrm>
            <a:custGeom>
              <a:avLst/>
              <a:gdLst/>
              <a:ahLst/>
              <a:cxnLst/>
              <a:rect l="l" t="t" r="r" b="b"/>
              <a:pathLst>
                <a:path w="426339" h="426339">
                  <a:moveTo>
                    <a:pt x="0" y="213233"/>
                  </a:moveTo>
                  <a:cubicBezTo>
                    <a:pt x="0" y="95504"/>
                    <a:pt x="95504" y="0"/>
                    <a:pt x="213233" y="0"/>
                  </a:cubicBezTo>
                  <a:cubicBezTo>
                    <a:pt x="330962" y="0"/>
                    <a:pt x="426339" y="95504"/>
                    <a:pt x="426339" y="213233"/>
                  </a:cubicBezTo>
                  <a:cubicBezTo>
                    <a:pt x="426339" y="330962"/>
                    <a:pt x="330962" y="426339"/>
                    <a:pt x="213233" y="426339"/>
                  </a:cubicBezTo>
                  <a:cubicBezTo>
                    <a:pt x="95504" y="426339"/>
                    <a:pt x="0" y="330962"/>
                    <a:pt x="0" y="21323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E1A000E0-0BC4-6C23-0369-99640E252221}"/>
              </a:ext>
            </a:extLst>
          </p:cNvPr>
          <p:cNvSpPr txBox="1"/>
          <p:nvPr/>
        </p:nvSpPr>
        <p:spPr>
          <a:xfrm>
            <a:off x="-1819274" y="216716"/>
            <a:ext cx="1605934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9600"/>
              </a:lnSpc>
            </a:pPr>
            <a:r>
              <a:rPr lang="en-US" sz="8000" b="1" dirty="0"/>
              <a:t>Functional Requirements</a:t>
            </a:r>
            <a:endParaRPr lang="he-IL" sz="8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D5B8BEA-6351-B649-6C9B-9B8E12C3AC64}"/>
              </a:ext>
            </a:extLst>
          </p:cNvPr>
          <p:cNvSpPr txBox="1"/>
          <p:nvPr/>
        </p:nvSpPr>
        <p:spPr>
          <a:xfrm>
            <a:off x="2084098" y="1565832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/>
              <a:t>Catalog Maintenance Panel</a:t>
            </a:r>
            <a:endParaRPr lang="he-IL" sz="36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C531AD3C-2FCC-405B-1279-81AA811F7D43}"/>
              </a:ext>
            </a:extLst>
          </p:cNvPr>
          <p:cNvSpPr txBox="1"/>
          <p:nvPr/>
        </p:nvSpPr>
        <p:spPr>
          <a:xfrm>
            <a:off x="1516562" y="2097768"/>
            <a:ext cx="6645520" cy="252376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dirty="0"/>
              <a:t>The Dietitian must have access to a dedicated, user-friendly panel for adding, editing, and deleting all products, which directly replaces the old Excel maintenance process.</a:t>
            </a:r>
          </a:p>
          <a:p>
            <a:pPr algn="ctr"/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0131BFDC-62B2-4C4C-D29C-F9B1FD72A1C7}"/>
              </a:ext>
            </a:extLst>
          </p:cNvPr>
          <p:cNvSpPr txBox="1"/>
          <p:nvPr/>
        </p:nvSpPr>
        <p:spPr>
          <a:xfrm>
            <a:off x="10515600" y="5372100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/>
              <a:t>Quick Allergy/Restriction Filtering</a:t>
            </a:r>
            <a:r>
              <a:rPr lang="en-US" sz="3600" dirty="0"/>
              <a:t> </a:t>
            </a:r>
            <a:endParaRPr lang="he-IL" sz="3600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7EECBF2E-7457-594C-4264-ADF1905484AB}"/>
              </a:ext>
            </a:extLst>
          </p:cNvPr>
          <p:cNvSpPr txBox="1"/>
          <p:nvPr/>
        </p:nvSpPr>
        <p:spPr>
          <a:xfrm>
            <a:off x="10363200" y="5905500"/>
            <a:ext cx="6645520" cy="252376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ctr"/>
            <a:r>
              <a:rPr lang="en-US" sz="2800" dirty="0"/>
              <a:t>The system must provide a primary interface where the Line Worker selects allergies/restrictions (via clear buttons), and the product list is instantly filtered to show only safe items.</a:t>
            </a:r>
          </a:p>
          <a:p>
            <a:pPr algn="ctr"/>
            <a:endParaRPr lang="he-IL" dirty="0"/>
          </a:p>
        </p:txBody>
      </p:sp>
      <p:cxnSp>
        <p:nvCxnSpPr>
          <p:cNvPr id="25" name="מחבר ישר 24">
            <a:extLst>
              <a:ext uri="{FF2B5EF4-FFF2-40B4-BE49-F238E27FC236}">
                <a16:creationId xmlns:a16="http://schemas.microsoft.com/office/drawing/2014/main" id="{1CDA6B99-EC8C-2CF8-A9FC-88DB8446A573}"/>
              </a:ext>
            </a:extLst>
          </p:cNvPr>
          <p:cNvCxnSpPr/>
          <p:nvPr/>
        </p:nvCxnSpPr>
        <p:spPr>
          <a:xfrm flipH="1">
            <a:off x="883878" y="5143500"/>
            <a:ext cx="164135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תמונה 26">
            <a:extLst>
              <a:ext uri="{FF2B5EF4-FFF2-40B4-BE49-F238E27FC236}">
                <a16:creationId xmlns:a16="http://schemas.microsoft.com/office/drawing/2014/main" id="{F1D4C7E8-9480-131E-6D34-5355E3BC18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980331"/>
            <a:ext cx="10150499" cy="3649436"/>
          </a:xfrm>
          <a:prstGeom prst="rect">
            <a:avLst/>
          </a:prstGeom>
        </p:spPr>
      </p:pic>
      <p:pic>
        <p:nvPicPr>
          <p:cNvPr id="29" name="תמונה 28">
            <a:extLst>
              <a:ext uri="{FF2B5EF4-FFF2-40B4-BE49-F238E27FC236}">
                <a16:creationId xmlns:a16="http://schemas.microsoft.com/office/drawing/2014/main" id="{625A808F-63B3-9926-EB0F-B452AE10669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7" b="25381"/>
          <a:stretch>
            <a:fillRect/>
          </a:stretch>
        </p:blipFill>
        <p:spPr>
          <a:xfrm>
            <a:off x="9397345" y="1569519"/>
            <a:ext cx="4842721" cy="323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48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5DAF5-8807-A38F-4FEC-AD6A0141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A47103-9234-49F1-AC05-0B0119F3258B}"/>
              </a:ext>
            </a:extLst>
          </p:cNvPr>
          <p:cNvSpPr/>
          <p:nvPr/>
        </p:nvSpPr>
        <p:spPr>
          <a:xfrm>
            <a:off x="17297400" y="5880171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DF3DA59-60A0-F0A6-0A2D-74B9AFF2F772}"/>
              </a:ext>
            </a:extLst>
          </p:cNvPr>
          <p:cNvGrpSpPr/>
          <p:nvPr/>
        </p:nvGrpSpPr>
        <p:grpSpPr>
          <a:xfrm>
            <a:off x="-4260219" y="-6582623"/>
            <a:ext cx="6344250" cy="9577550"/>
            <a:chOff x="0" y="0"/>
            <a:chExt cx="8459000" cy="12770067"/>
          </a:xfrm>
          <a:solidFill>
            <a:srgbClr val="449FC3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4D44A9-2E35-0237-D7FF-DB50501FC95D}"/>
                </a:ext>
              </a:extLst>
            </p:cNvPr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F0485B5-E6C9-7068-F4C1-8509CDA93102}"/>
              </a:ext>
            </a:extLst>
          </p:cNvPr>
          <p:cNvSpPr/>
          <p:nvPr/>
        </p:nvSpPr>
        <p:spPr>
          <a:xfrm>
            <a:off x="883878" y="396796"/>
            <a:ext cx="1520526" cy="1520892"/>
          </a:xfrm>
          <a:custGeom>
            <a:avLst/>
            <a:gdLst/>
            <a:ahLst/>
            <a:cxnLst/>
            <a:rect l="l" t="t" r="r" b="b"/>
            <a:pathLst>
              <a:path w="1520526" h="1520892">
                <a:moveTo>
                  <a:pt x="0" y="0"/>
                </a:moveTo>
                <a:lnTo>
                  <a:pt x="1520526" y="0"/>
                </a:lnTo>
                <a:lnTo>
                  <a:pt x="1520526" y="1520892"/>
                </a:lnTo>
                <a:lnTo>
                  <a:pt x="0" y="152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AA753B7-4CBA-7BAF-DCCA-7A5889385045}"/>
              </a:ext>
            </a:extLst>
          </p:cNvPr>
          <p:cNvGrpSpPr/>
          <p:nvPr/>
        </p:nvGrpSpPr>
        <p:grpSpPr>
          <a:xfrm>
            <a:off x="-294955" y="2363663"/>
            <a:ext cx="516600" cy="516600"/>
            <a:chOff x="0" y="0"/>
            <a:chExt cx="688800" cy="688800"/>
          </a:xfrm>
          <a:solidFill>
            <a:srgbClr val="5C9346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A9DB7DC-B4C8-CA1C-14A9-53FB0C1C1234}"/>
                </a:ext>
              </a:extLst>
            </p:cNvPr>
            <p:cNvSpPr/>
            <p:nvPr/>
          </p:nvSpPr>
          <p:spPr>
            <a:xfrm>
              <a:off x="0" y="0"/>
              <a:ext cx="688848" cy="688848"/>
            </a:xfrm>
            <a:custGeom>
              <a:avLst/>
              <a:gdLst/>
              <a:ahLst/>
              <a:cxnLst/>
              <a:rect l="l" t="t" r="r" b="b"/>
              <a:pathLst>
                <a:path w="688848" h="688848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848" y="154178"/>
                    <a:pt x="688848" y="344424"/>
                  </a:cubicBezTo>
                  <a:cubicBezTo>
                    <a:pt x="688848" y="534670"/>
                    <a:pt x="534670" y="688848"/>
                    <a:pt x="344424" y="688848"/>
                  </a:cubicBezTo>
                  <a:cubicBezTo>
                    <a:pt x="154178" y="688848"/>
                    <a:pt x="0" y="534670"/>
                    <a:pt x="0" y="34442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CB72F21-C33C-7565-1473-EDCAE71817E6}"/>
              </a:ext>
            </a:extLst>
          </p:cNvPr>
          <p:cNvGrpSpPr/>
          <p:nvPr/>
        </p:nvGrpSpPr>
        <p:grpSpPr>
          <a:xfrm>
            <a:off x="61768" y="1761539"/>
            <a:ext cx="319800" cy="319800"/>
            <a:chOff x="0" y="0"/>
            <a:chExt cx="426400" cy="426400"/>
          </a:xfrm>
          <a:solidFill>
            <a:srgbClr val="5C9346"/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17B526D-C130-B28E-B988-6683E6EF976E}"/>
                </a:ext>
              </a:extLst>
            </p:cNvPr>
            <p:cNvSpPr/>
            <p:nvPr/>
          </p:nvSpPr>
          <p:spPr>
            <a:xfrm>
              <a:off x="0" y="0"/>
              <a:ext cx="426339" cy="426339"/>
            </a:xfrm>
            <a:custGeom>
              <a:avLst/>
              <a:gdLst/>
              <a:ahLst/>
              <a:cxnLst/>
              <a:rect l="l" t="t" r="r" b="b"/>
              <a:pathLst>
                <a:path w="426339" h="426339">
                  <a:moveTo>
                    <a:pt x="0" y="213233"/>
                  </a:moveTo>
                  <a:cubicBezTo>
                    <a:pt x="0" y="95504"/>
                    <a:pt x="95504" y="0"/>
                    <a:pt x="213233" y="0"/>
                  </a:cubicBezTo>
                  <a:cubicBezTo>
                    <a:pt x="330962" y="0"/>
                    <a:pt x="426339" y="95504"/>
                    <a:pt x="426339" y="213233"/>
                  </a:cubicBezTo>
                  <a:cubicBezTo>
                    <a:pt x="426339" y="330962"/>
                    <a:pt x="330962" y="426339"/>
                    <a:pt x="213233" y="426339"/>
                  </a:cubicBezTo>
                  <a:cubicBezTo>
                    <a:pt x="95504" y="426339"/>
                    <a:pt x="0" y="330962"/>
                    <a:pt x="0" y="21323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090F2148-4AAB-C850-7EDE-A2FD13D9DD37}"/>
              </a:ext>
            </a:extLst>
          </p:cNvPr>
          <p:cNvSpPr txBox="1"/>
          <p:nvPr/>
        </p:nvSpPr>
        <p:spPr>
          <a:xfrm>
            <a:off x="-1819274" y="216716"/>
            <a:ext cx="1605934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9600"/>
              </a:lnSpc>
            </a:pPr>
            <a:r>
              <a:rPr lang="en-US" sz="8000" b="1" dirty="0"/>
              <a:t>Functional Requirements</a:t>
            </a:r>
            <a:endParaRPr lang="he-IL" sz="8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47187F4-E16C-84E4-BD38-C688E808FBE6}"/>
              </a:ext>
            </a:extLst>
          </p:cNvPr>
          <p:cNvSpPr txBox="1"/>
          <p:nvPr/>
        </p:nvSpPr>
        <p:spPr>
          <a:xfrm>
            <a:off x="2835448" y="1627902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/>
              <a:t>View Product Catalog</a:t>
            </a:r>
            <a:r>
              <a:rPr lang="en-US" sz="3600" dirty="0"/>
              <a:t> </a:t>
            </a:r>
            <a:endParaRPr lang="he-IL" sz="36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31783075-81FD-01EB-4581-B34A8B8D3635}"/>
              </a:ext>
            </a:extLst>
          </p:cNvPr>
          <p:cNvSpPr txBox="1"/>
          <p:nvPr/>
        </p:nvSpPr>
        <p:spPr>
          <a:xfrm>
            <a:off x="1516562" y="2151703"/>
            <a:ext cx="6645520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ctr"/>
            <a:r>
              <a:rPr lang="en-US" sz="2600" dirty="0"/>
              <a:t>The system must allow authorized users (Dietitians and Line Workers) to view the entire, up-to-date product catalog for reference.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F92DA35-4938-28B6-9F73-3B160BE54FB5}"/>
              </a:ext>
            </a:extLst>
          </p:cNvPr>
          <p:cNvSpPr txBox="1"/>
          <p:nvPr/>
        </p:nvSpPr>
        <p:spPr>
          <a:xfrm>
            <a:off x="10600260" y="5952232"/>
            <a:ext cx="7178920" cy="97725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ts val="3359"/>
              </a:lnSpc>
            </a:pPr>
            <a:r>
              <a:rPr lang="en-US" sz="3600" b="1" dirty="0"/>
              <a:t>"Contains" vs. "May Contain" Distinction and Filtering</a:t>
            </a:r>
            <a:endParaRPr lang="en-US" sz="3600" dirty="0">
              <a:solidFill>
                <a:srgbClr val="343434"/>
              </a:solidFill>
              <a:latin typeface="Calibri" panose="020F0502020204030204" pitchFamily="34" charset="0"/>
              <a:ea typeface="Muli"/>
              <a:cs typeface="Calibri" panose="020F0502020204030204" pitchFamily="34" charset="0"/>
              <a:sym typeface="Muli"/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3E67E065-DA21-5F8E-C88B-6B1C27ABFA0C}"/>
              </a:ext>
            </a:extLst>
          </p:cNvPr>
          <p:cNvSpPr txBox="1"/>
          <p:nvPr/>
        </p:nvSpPr>
        <p:spPr>
          <a:xfrm>
            <a:off x="10600260" y="6876434"/>
            <a:ext cx="6645520" cy="249299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ctr"/>
            <a:r>
              <a:rPr lang="en-US" sz="2600" dirty="0"/>
              <a:t>The data model and filtering interface must differentiate between products that Contain an allergen (always filtered out) and those that May Contain it (offering optional inclusion/exclusion based on risk tolerance).</a:t>
            </a:r>
          </a:p>
          <a:p>
            <a:pPr algn="ctr"/>
            <a:endParaRPr lang="he-IL" sz="2600" dirty="0"/>
          </a:p>
        </p:txBody>
      </p: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D387A85E-86CD-1B24-E54B-ABA02064857A}"/>
              </a:ext>
            </a:extLst>
          </p:cNvPr>
          <p:cNvCxnSpPr/>
          <p:nvPr/>
        </p:nvCxnSpPr>
        <p:spPr>
          <a:xfrm flipH="1">
            <a:off x="883878" y="5143500"/>
            <a:ext cx="164135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5">
            <a:extLst>
              <a:ext uri="{FF2B5EF4-FFF2-40B4-BE49-F238E27FC236}">
                <a16:creationId xmlns:a16="http://schemas.microsoft.com/office/drawing/2014/main" id="{6A8DC5FA-928D-735B-30FD-6F47F49BC8AF}"/>
              </a:ext>
            </a:extLst>
          </p:cNvPr>
          <p:cNvSpPr/>
          <p:nvPr/>
        </p:nvSpPr>
        <p:spPr>
          <a:xfrm>
            <a:off x="17342062" y="-543730"/>
            <a:ext cx="1520526" cy="1520892"/>
          </a:xfrm>
          <a:custGeom>
            <a:avLst/>
            <a:gdLst/>
            <a:ahLst/>
            <a:cxnLst/>
            <a:rect l="l" t="t" r="r" b="b"/>
            <a:pathLst>
              <a:path w="1520526" h="1520892">
                <a:moveTo>
                  <a:pt x="0" y="0"/>
                </a:moveTo>
                <a:lnTo>
                  <a:pt x="1520526" y="0"/>
                </a:lnTo>
                <a:lnTo>
                  <a:pt x="1520526" y="1520892"/>
                </a:lnTo>
                <a:lnTo>
                  <a:pt x="0" y="152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pic>
        <p:nvPicPr>
          <p:cNvPr id="20" name="תמונה 19">
            <a:extLst>
              <a:ext uri="{FF2B5EF4-FFF2-40B4-BE49-F238E27FC236}">
                <a16:creationId xmlns:a16="http://schemas.microsoft.com/office/drawing/2014/main" id="{B3687F9B-F188-A58E-3E47-BEE9092DAF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1447822"/>
            <a:ext cx="6980686" cy="3547416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3F073C08-C83F-9978-3E1F-57EC5B56E5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651" y="5459491"/>
            <a:ext cx="2101975" cy="4277559"/>
          </a:xfrm>
          <a:prstGeom prst="rect">
            <a:avLst/>
          </a:prstGeom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08187332-D829-E7B2-946F-60DA9063D5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645" y="5626642"/>
            <a:ext cx="7506350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09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4722E-BE59-F1C8-E370-8A3DE9BE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7559C3-7C21-A319-3FB1-599F6A202076}"/>
              </a:ext>
            </a:extLst>
          </p:cNvPr>
          <p:cNvSpPr/>
          <p:nvPr/>
        </p:nvSpPr>
        <p:spPr>
          <a:xfrm>
            <a:off x="17297400" y="5880171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5A6452B-0ED0-411C-82FF-7D3A8582E164}"/>
              </a:ext>
            </a:extLst>
          </p:cNvPr>
          <p:cNvGrpSpPr/>
          <p:nvPr/>
        </p:nvGrpSpPr>
        <p:grpSpPr>
          <a:xfrm>
            <a:off x="-4260219" y="-6582623"/>
            <a:ext cx="6344250" cy="9577550"/>
            <a:chOff x="0" y="0"/>
            <a:chExt cx="8459000" cy="12770067"/>
          </a:xfrm>
          <a:solidFill>
            <a:srgbClr val="449FC3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34D0711-7ED5-FDEB-54BE-FC37EDFEFD8A}"/>
                </a:ext>
              </a:extLst>
            </p:cNvPr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8C80B51-9E21-FA2F-E89D-146CBA473733}"/>
              </a:ext>
            </a:extLst>
          </p:cNvPr>
          <p:cNvSpPr/>
          <p:nvPr/>
        </p:nvSpPr>
        <p:spPr>
          <a:xfrm>
            <a:off x="883878" y="396796"/>
            <a:ext cx="1520526" cy="1520892"/>
          </a:xfrm>
          <a:custGeom>
            <a:avLst/>
            <a:gdLst/>
            <a:ahLst/>
            <a:cxnLst/>
            <a:rect l="l" t="t" r="r" b="b"/>
            <a:pathLst>
              <a:path w="1520526" h="1520892">
                <a:moveTo>
                  <a:pt x="0" y="0"/>
                </a:moveTo>
                <a:lnTo>
                  <a:pt x="1520526" y="0"/>
                </a:lnTo>
                <a:lnTo>
                  <a:pt x="1520526" y="1520892"/>
                </a:lnTo>
                <a:lnTo>
                  <a:pt x="0" y="152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B719563-9BB7-241C-C0F5-50A10226C4F6}"/>
              </a:ext>
            </a:extLst>
          </p:cNvPr>
          <p:cNvGrpSpPr/>
          <p:nvPr/>
        </p:nvGrpSpPr>
        <p:grpSpPr>
          <a:xfrm>
            <a:off x="-294955" y="2363663"/>
            <a:ext cx="516600" cy="516600"/>
            <a:chOff x="0" y="0"/>
            <a:chExt cx="688800" cy="688800"/>
          </a:xfrm>
          <a:solidFill>
            <a:srgbClr val="5C9346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D644F9-E136-26AB-9ECB-10D6E27AE07A}"/>
                </a:ext>
              </a:extLst>
            </p:cNvPr>
            <p:cNvSpPr/>
            <p:nvPr/>
          </p:nvSpPr>
          <p:spPr>
            <a:xfrm>
              <a:off x="0" y="0"/>
              <a:ext cx="688848" cy="688848"/>
            </a:xfrm>
            <a:custGeom>
              <a:avLst/>
              <a:gdLst/>
              <a:ahLst/>
              <a:cxnLst/>
              <a:rect l="l" t="t" r="r" b="b"/>
              <a:pathLst>
                <a:path w="688848" h="688848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848" y="154178"/>
                    <a:pt x="688848" y="344424"/>
                  </a:cubicBezTo>
                  <a:cubicBezTo>
                    <a:pt x="688848" y="534670"/>
                    <a:pt x="534670" y="688848"/>
                    <a:pt x="344424" y="688848"/>
                  </a:cubicBezTo>
                  <a:cubicBezTo>
                    <a:pt x="154178" y="688848"/>
                    <a:pt x="0" y="534670"/>
                    <a:pt x="0" y="34442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C71C6D3-182B-3ED7-1D00-DF82C6205639}"/>
              </a:ext>
            </a:extLst>
          </p:cNvPr>
          <p:cNvGrpSpPr/>
          <p:nvPr/>
        </p:nvGrpSpPr>
        <p:grpSpPr>
          <a:xfrm>
            <a:off x="61768" y="1761539"/>
            <a:ext cx="319800" cy="319800"/>
            <a:chOff x="0" y="0"/>
            <a:chExt cx="426400" cy="426400"/>
          </a:xfrm>
          <a:solidFill>
            <a:srgbClr val="5C9346"/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E3CB4F7-71CB-7F75-2877-4CE3D8DF2277}"/>
                </a:ext>
              </a:extLst>
            </p:cNvPr>
            <p:cNvSpPr/>
            <p:nvPr/>
          </p:nvSpPr>
          <p:spPr>
            <a:xfrm>
              <a:off x="0" y="0"/>
              <a:ext cx="426339" cy="426339"/>
            </a:xfrm>
            <a:custGeom>
              <a:avLst/>
              <a:gdLst/>
              <a:ahLst/>
              <a:cxnLst/>
              <a:rect l="l" t="t" r="r" b="b"/>
              <a:pathLst>
                <a:path w="426339" h="426339">
                  <a:moveTo>
                    <a:pt x="0" y="213233"/>
                  </a:moveTo>
                  <a:cubicBezTo>
                    <a:pt x="0" y="95504"/>
                    <a:pt x="95504" y="0"/>
                    <a:pt x="213233" y="0"/>
                  </a:cubicBezTo>
                  <a:cubicBezTo>
                    <a:pt x="330962" y="0"/>
                    <a:pt x="426339" y="95504"/>
                    <a:pt x="426339" y="213233"/>
                  </a:cubicBezTo>
                  <a:cubicBezTo>
                    <a:pt x="426339" y="330962"/>
                    <a:pt x="330962" y="426339"/>
                    <a:pt x="213233" y="426339"/>
                  </a:cubicBezTo>
                  <a:cubicBezTo>
                    <a:pt x="95504" y="426339"/>
                    <a:pt x="0" y="330962"/>
                    <a:pt x="0" y="21323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24FFF9C9-B938-D5D6-56CE-A0BB4EEB50A4}"/>
              </a:ext>
            </a:extLst>
          </p:cNvPr>
          <p:cNvSpPr txBox="1"/>
          <p:nvPr/>
        </p:nvSpPr>
        <p:spPr>
          <a:xfrm>
            <a:off x="-1819274" y="216716"/>
            <a:ext cx="1605934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9600"/>
              </a:lnSpc>
            </a:pPr>
            <a:r>
              <a:rPr lang="en-US" sz="8000" b="1" dirty="0"/>
              <a:t>Functional Requirements</a:t>
            </a:r>
            <a:endParaRPr lang="he-IL" sz="8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D6100F7C-A145-37B3-44F6-4D24309F417D}"/>
              </a:ext>
            </a:extLst>
          </p:cNvPr>
          <p:cNvSpPr txBox="1"/>
          <p:nvPr/>
        </p:nvSpPr>
        <p:spPr>
          <a:xfrm>
            <a:off x="1727849" y="1962857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/>
              <a:t>Menu Building Page for Patients</a:t>
            </a:r>
            <a:r>
              <a:rPr lang="en-US" sz="3600" dirty="0"/>
              <a:t> </a:t>
            </a:r>
            <a:endParaRPr lang="he-IL" sz="36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546E861-2B4A-897B-D6DA-7D34DF7962AD}"/>
              </a:ext>
            </a:extLst>
          </p:cNvPr>
          <p:cNvSpPr txBox="1"/>
          <p:nvPr/>
        </p:nvSpPr>
        <p:spPr>
          <a:xfrm>
            <a:off x="1441299" y="2517631"/>
            <a:ext cx="6645520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ctr"/>
            <a:r>
              <a:rPr lang="en-US" sz="2600" dirty="0"/>
              <a:t>The system should include a dedicated page allowing a Dietitian (or Line Worker) to assemble a final, confirmed meal list for a specific patient.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0F905DE-CB24-65C7-0929-B06BFD58478B}"/>
              </a:ext>
            </a:extLst>
          </p:cNvPr>
          <p:cNvSpPr txBox="1"/>
          <p:nvPr/>
        </p:nvSpPr>
        <p:spPr>
          <a:xfrm>
            <a:off x="10650606" y="6410702"/>
            <a:ext cx="7178920" cy="54123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ts val="3359"/>
              </a:lnSpc>
            </a:pPr>
            <a:r>
              <a:rPr lang="en-US" sz="3600" b="1" dirty="0"/>
              <a:t>Menu Storage and Retrieval</a:t>
            </a:r>
            <a:r>
              <a:rPr lang="en-US" sz="3600" dirty="0"/>
              <a:t> </a:t>
            </a:r>
            <a:endParaRPr lang="en-US" sz="3600" dirty="0">
              <a:solidFill>
                <a:srgbClr val="343434"/>
              </a:solidFill>
              <a:latin typeface="Calibri" panose="020F0502020204030204" pitchFamily="34" charset="0"/>
              <a:ea typeface="Muli"/>
              <a:cs typeface="Calibri" panose="020F0502020204030204" pitchFamily="34" charset="0"/>
              <a:sym typeface="Muli"/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52A6A5A2-C837-C65D-5CD0-8CF5AF1F830D}"/>
              </a:ext>
            </a:extLst>
          </p:cNvPr>
          <p:cNvSpPr txBox="1"/>
          <p:nvPr/>
        </p:nvSpPr>
        <p:spPr>
          <a:xfrm>
            <a:off x="10650606" y="6951940"/>
            <a:ext cx="6645520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ctr"/>
            <a:r>
              <a:rPr lang="en-US" sz="2600" dirty="0"/>
              <a:t>The system must enable saving a pre-prepared, filtered menu, linking it to the exact filtering criteria used, for easy recall.</a:t>
            </a:r>
          </a:p>
        </p:txBody>
      </p: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E486ED5D-E975-A211-9D1E-519CE3F5099C}"/>
              </a:ext>
            </a:extLst>
          </p:cNvPr>
          <p:cNvCxnSpPr/>
          <p:nvPr/>
        </p:nvCxnSpPr>
        <p:spPr>
          <a:xfrm flipH="1">
            <a:off x="883878" y="5143500"/>
            <a:ext cx="164135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5">
            <a:extLst>
              <a:ext uri="{FF2B5EF4-FFF2-40B4-BE49-F238E27FC236}">
                <a16:creationId xmlns:a16="http://schemas.microsoft.com/office/drawing/2014/main" id="{35259A28-D584-4588-777D-C0420E890FDF}"/>
              </a:ext>
            </a:extLst>
          </p:cNvPr>
          <p:cNvSpPr/>
          <p:nvPr/>
        </p:nvSpPr>
        <p:spPr>
          <a:xfrm>
            <a:off x="17342062" y="-543730"/>
            <a:ext cx="1520526" cy="1520892"/>
          </a:xfrm>
          <a:custGeom>
            <a:avLst/>
            <a:gdLst/>
            <a:ahLst/>
            <a:cxnLst/>
            <a:rect l="l" t="t" r="r" b="b"/>
            <a:pathLst>
              <a:path w="1520526" h="1520892">
                <a:moveTo>
                  <a:pt x="0" y="0"/>
                </a:moveTo>
                <a:lnTo>
                  <a:pt x="1520526" y="0"/>
                </a:lnTo>
                <a:lnTo>
                  <a:pt x="1520526" y="1520892"/>
                </a:lnTo>
                <a:lnTo>
                  <a:pt x="0" y="1520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C87F1384-CB90-43D1-7783-62BA370072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806" y="1518400"/>
            <a:ext cx="9571720" cy="3398875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247CC6F1-A950-4EC0-D60B-0C035F912A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394" y="5257185"/>
            <a:ext cx="9571720" cy="1367388"/>
          </a:xfrm>
          <a:prstGeom prst="rect">
            <a:avLst/>
          </a:prstGeom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A09B447D-D136-3C60-CA1B-566216C2FC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0227" y="6744714"/>
            <a:ext cx="2630054" cy="343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12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9A2B1-C580-92F8-FBD3-F5FD6C8D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F842AFE-4B1B-C896-960C-D368B199B2AD}"/>
              </a:ext>
            </a:extLst>
          </p:cNvPr>
          <p:cNvGrpSpPr/>
          <p:nvPr/>
        </p:nvGrpSpPr>
        <p:grpSpPr>
          <a:xfrm rot="8290966">
            <a:off x="-7095393" y="-5674606"/>
            <a:ext cx="6344250" cy="9577550"/>
            <a:chOff x="0" y="0"/>
            <a:chExt cx="8459000" cy="12770067"/>
          </a:xfrm>
          <a:solidFill>
            <a:srgbClr val="449FC3"/>
          </a:solidFill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1238671-813D-7738-0929-8FD762271E6F}"/>
                </a:ext>
              </a:extLst>
            </p:cNvPr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0F5340D-CC63-3DF1-726E-BEEB100DD39E}"/>
              </a:ext>
            </a:extLst>
          </p:cNvPr>
          <p:cNvSpPr/>
          <p:nvPr/>
        </p:nvSpPr>
        <p:spPr>
          <a:xfrm>
            <a:off x="27511" y="761630"/>
            <a:ext cx="1520526" cy="1520892"/>
          </a:xfrm>
          <a:custGeom>
            <a:avLst/>
            <a:gdLst/>
            <a:ahLst/>
            <a:cxnLst/>
            <a:rect l="l" t="t" r="r" b="b"/>
            <a:pathLst>
              <a:path w="1520526" h="1520892">
                <a:moveTo>
                  <a:pt x="0" y="0"/>
                </a:moveTo>
                <a:lnTo>
                  <a:pt x="1520526" y="0"/>
                </a:lnTo>
                <a:lnTo>
                  <a:pt x="1520526" y="1520892"/>
                </a:lnTo>
                <a:lnTo>
                  <a:pt x="0" y="1520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FC2528B-9C83-ADB1-50E6-57C9359FA15E}"/>
              </a:ext>
            </a:extLst>
          </p:cNvPr>
          <p:cNvGrpSpPr/>
          <p:nvPr/>
        </p:nvGrpSpPr>
        <p:grpSpPr>
          <a:xfrm>
            <a:off x="1138019" y="142462"/>
            <a:ext cx="516600" cy="516600"/>
            <a:chOff x="0" y="0"/>
            <a:chExt cx="688800" cy="688800"/>
          </a:xfrm>
          <a:solidFill>
            <a:srgbClr val="5C9346"/>
          </a:solidFill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57968E8-2663-1868-E26F-F5ABE094A0ED}"/>
                </a:ext>
              </a:extLst>
            </p:cNvPr>
            <p:cNvSpPr/>
            <p:nvPr/>
          </p:nvSpPr>
          <p:spPr>
            <a:xfrm>
              <a:off x="0" y="0"/>
              <a:ext cx="688848" cy="688848"/>
            </a:xfrm>
            <a:custGeom>
              <a:avLst/>
              <a:gdLst/>
              <a:ahLst/>
              <a:cxnLst/>
              <a:rect l="l" t="t" r="r" b="b"/>
              <a:pathLst>
                <a:path w="688848" h="688848">
                  <a:moveTo>
                    <a:pt x="0" y="344424"/>
                  </a:moveTo>
                  <a:cubicBezTo>
                    <a:pt x="0" y="154178"/>
                    <a:pt x="154178" y="0"/>
                    <a:pt x="344424" y="0"/>
                  </a:cubicBezTo>
                  <a:cubicBezTo>
                    <a:pt x="534670" y="0"/>
                    <a:pt x="688848" y="154178"/>
                    <a:pt x="688848" y="344424"/>
                  </a:cubicBezTo>
                  <a:cubicBezTo>
                    <a:pt x="688848" y="534670"/>
                    <a:pt x="534670" y="688848"/>
                    <a:pt x="344424" y="688848"/>
                  </a:cubicBezTo>
                  <a:cubicBezTo>
                    <a:pt x="154178" y="688848"/>
                    <a:pt x="0" y="534670"/>
                    <a:pt x="0" y="34442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C2D24C8-12D4-CE38-9044-BD537E58DACA}"/>
              </a:ext>
            </a:extLst>
          </p:cNvPr>
          <p:cNvGrpSpPr/>
          <p:nvPr/>
        </p:nvGrpSpPr>
        <p:grpSpPr>
          <a:xfrm>
            <a:off x="61768" y="1761539"/>
            <a:ext cx="319800" cy="319800"/>
            <a:chOff x="0" y="0"/>
            <a:chExt cx="426400" cy="426400"/>
          </a:xfrm>
          <a:solidFill>
            <a:srgbClr val="5C9346"/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464F570-9AB5-1C33-2413-AFC0718104B8}"/>
                </a:ext>
              </a:extLst>
            </p:cNvPr>
            <p:cNvSpPr/>
            <p:nvPr/>
          </p:nvSpPr>
          <p:spPr>
            <a:xfrm>
              <a:off x="0" y="0"/>
              <a:ext cx="426339" cy="426339"/>
            </a:xfrm>
            <a:custGeom>
              <a:avLst/>
              <a:gdLst/>
              <a:ahLst/>
              <a:cxnLst/>
              <a:rect l="l" t="t" r="r" b="b"/>
              <a:pathLst>
                <a:path w="426339" h="426339">
                  <a:moveTo>
                    <a:pt x="0" y="213233"/>
                  </a:moveTo>
                  <a:cubicBezTo>
                    <a:pt x="0" y="95504"/>
                    <a:pt x="95504" y="0"/>
                    <a:pt x="213233" y="0"/>
                  </a:cubicBezTo>
                  <a:cubicBezTo>
                    <a:pt x="330962" y="0"/>
                    <a:pt x="426339" y="95504"/>
                    <a:pt x="426339" y="213233"/>
                  </a:cubicBezTo>
                  <a:cubicBezTo>
                    <a:pt x="426339" y="330962"/>
                    <a:pt x="330962" y="426339"/>
                    <a:pt x="213233" y="426339"/>
                  </a:cubicBezTo>
                  <a:cubicBezTo>
                    <a:pt x="95504" y="426339"/>
                    <a:pt x="0" y="330962"/>
                    <a:pt x="0" y="21323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62939D95-C79F-DEAB-BD4C-D8BEF850F60B}"/>
              </a:ext>
            </a:extLst>
          </p:cNvPr>
          <p:cNvSpPr txBox="1"/>
          <p:nvPr/>
        </p:nvSpPr>
        <p:spPr>
          <a:xfrm>
            <a:off x="-528008" y="174294"/>
            <a:ext cx="1605934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9600"/>
              </a:lnSpc>
            </a:pPr>
            <a:r>
              <a:rPr lang="en-US" sz="8000" b="1" dirty="0"/>
              <a:t>Non-Functional Requirements</a:t>
            </a:r>
            <a:endParaRPr lang="he-IL" sz="8000" b="1" dirty="0">
              <a:solidFill>
                <a:srgbClr val="000000"/>
              </a:solidFill>
              <a:latin typeface="Calibri" panose="020F0502020204030204" pitchFamily="34" charset="0"/>
              <a:ea typeface="Roboto Bold"/>
              <a:cs typeface="Calibri" panose="020F0502020204030204" pitchFamily="34" charset="0"/>
              <a:sym typeface="Roboto Bold"/>
              <a:rtl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8B0396F-8E75-6964-FE07-F4DC78F7240E}"/>
              </a:ext>
            </a:extLst>
          </p:cNvPr>
          <p:cNvSpPr txBox="1"/>
          <p:nvPr/>
        </p:nvSpPr>
        <p:spPr>
          <a:xfrm>
            <a:off x="11486416" y="2628827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/>
              <a:t>Query Response Time</a:t>
            </a:r>
            <a:endParaRPr lang="he-IL" sz="3600" dirty="0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CA55B35A-A41D-A5C2-4B54-52894E3A4DB9}"/>
              </a:ext>
            </a:extLst>
          </p:cNvPr>
          <p:cNvSpPr txBox="1"/>
          <p:nvPr/>
        </p:nvSpPr>
        <p:spPr>
          <a:xfrm>
            <a:off x="10338145" y="3178709"/>
            <a:ext cx="6645520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algn="ctr"/>
            <a:r>
              <a:rPr lang="en-US" sz="2600" dirty="0"/>
              <a:t>The time taken for any database query, including product filtering or menu retrieval, must be less than 2 seconds during active use on the line to ensure efficient workflow.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A945903-40A3-1D08-AC7B-FE807A4C5F08}"/>
              </a:ext>
            </a:extLst>
          </p:cNvPr>
          <p:cNvSpPr txBox="1"/>
          <p:nvPr/>
        </p:nvSpPr>
        <p:spPr>
          <a:xfrm>
            <a:off x="2663171" y="2577894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/>
              <a:t>Dietitian Mobile Access</a:t>
            </a:r>
            <a:r>
              <a:rPr lang="en-US" sz="3600" dirty="0"/>
              <a:t> </a:t>
            </a:r>
            <a:endParaRPr lang="he-IL" sz="3600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34639E88-6892-C472-66F1-F0DF678376A0}"/>
              </a:ext>
            </a:extLst>
          </p:cNvPr>
          <p:cNvSpPr txBox="1"/>
          <p:nvPr/>
        </p:nvSpPr>
        <p:spPr>
          <a:xfrm>
            <a:off x="1544397" y="3178709"/>
            <a:ext cx="6645520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ctr"/>
            <a:r>
              <a:rPr lang="en-US" sz="2600" dirty="0"/>
              <a:t>The entire user interface must be fully responsive and optimized for seamless use on the Dietitian's mobile device.</a:t>
            </a:r>
            <a:endParaRPr lang="he-IL" sz="2600" dirty="0"/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8AA76232-48CC-6218-50DB-0FCCC6264971}"/>
              </a:ext>
            </a:extLst>
          </p:cNvPr>
          <p:cNvGrpSpPr/>
          <p:nvPr/>
        </p:nvGrpSpPr>
        <p:grpSpPr>
          <a:xfrm>
            <a:off x="13335000" y="8572500"/>
            <a:ext cx="8058000" cy="8058000"/>
            <a:chOff x="0" y="0"/>
            <a:chExt cx="10744000" cy="10744000"/>
          </a:xfrm>
          <a:solidFill>
            <a:srgbClr val="449FC3"/>
          </a:solidFill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DF02D866-8095-F127-F779-69B9F6C2509D}"/>
                </a:ext>
              </a:extLst>
            </p:cNvPr>
            <p:cNvSpPr/>
            <p:nvPr/>
          </p:nvSpPr>
          <p:spPr>
            <a:xfrm>
              <a:off x="0" y="0"/>
              <a:ext cx="10743946" cy="10743946"/>
            </a:xfrm>
            <a:custGeom>
              <a:avLst/>
              <a:gdLst/>
              <a:ahLst/>
              <a:cxnLst/>
              <a:rect l="l" t="t" r="r" b="b"/>
              <a:pathLst>
                <a:path w="10743946" h="10743946">
                  <a:moveTo>
                    <a:pt x="0" y="5371973"/>
                  </a:moveTo>
                  <a:cubicBezTo>
                    <a:pt x="0" y="2405126"/>
                    <a:pt x="2405126" y="0"/>
                    <a:pt x="5371973" y="0"/>
                  </a:cubicBezTo>
                  <a:cubicBezTo>
                    <a:pt x="8338820" y="0"/>
                    <a:pt x="10743946" y="2405126"/>
                    <a:pt x="10743946" y="5371973"/>
                  </a:cubicBezTo>
                  <a:cubicBezTo>
                    <a:pt x="10743946" y="8338820"/>
                    <a:pt x="8338820" y="10743946"/>
                    <a:pt x="5371973" y="10743946"/>
                  </a:cubicBezTo>
                  <a:cubicBezTo>
                    <a:pt x="2405126" y="10743946"/>
                    <a:pt x="0" y="8338820"/>
                    <a:pt x="0" y="5371973"/>
                  </a:cubicBezTo>
                  <a:close/>
                  <a:moveTo>
                    <a:pt x="1916938" y="5371973"/>
                  </a:moveTo>
                  <a:cubicBezTo>
                    <a:pt x="1916938" y="7280148"/>
                    <a:pt x="3463798" y="8827008"/>
                    <a:pt x="5371973" y="8827008"/>
                  </a:cubicBezTo>
                  <a:cubicBezTo>
                    <a:pt x="7280148" y="8827008"/>
                    <a:pt x="8827008" y="7280148"/>
                    <a:pt x="8827008" y="5371973"/>
                  </a:cubicBezTo>
                  <a:cubicBezTo>
                    <a:pt x="8827008" y="3463798"/>
                    <a:pt x="7280148" y="1916938"/>
                    <a:pt x="5371973" y="1916938"/>
                  </a:cubicBezTo>
                  <a:cubicBezTo>
                    <a:pt x="3463798" y="1916938"/>
                    <a:pt x="1916938" y="3463798"/>
                    <a:pt x="1916938" y="537197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7" name="Freeform 6">
            <a:extLst>
              <a:ext uri="{FF2B5EF4-FFF2-40B4-BE49-F238E27FC236}">
                <a16:creationId xmlns:a16="http://schemas.microsoft.com/office/drawing/2014/main" id="{AB2D62E1-BF3F-D15E-66DC-8A7BCC157CB1}"/>
              </a:ext>
            </a:extLst>
          </p:cNvPr>
          <p:cNvSpPr/>
          <p:nvPr/>
        </p:nvSpPr>
        <p:spPr>
          <a:xfrm>
            <a:off x="14369966" y="8705841"/>
            <a:ext cx="1562348" cy="1562724"/>
          </a:xfrm>
          <a:custGeom>
            <a:avLst/>
            <a:gdLst/>
            <a:ahLst/>
            <a:cxnLst/>
            <a:rect l="l" t="t" r="r" b="b"/>
            <a:pathLst>
              <a:path w="1562348" h="1562724">
                <a:moveTo>
                  <a:pt x="0" y="0"/>
                </a:moveTo>
                <a:lnTo>
                  <a:pt x="1562348" y="0"/>
                </a:lnTo>
                <a:lnTo>
                  <a:pt x="1562348" y="1562724"/>
                </a:lnTo>
                <a:lnTo>
                  <a:pt x="0" y="156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E9A4DD0A-4E4B-61DF-9F0E-3B10FD7D272C}"/>
              </a:ext>
            </a:extLst>
          </p:cNvPr>
          <p:cNvGrpSpPr/>
          <p:nvPr/>
        </p:nvGrpSpPr>
        <p:grpSpPr>
          <a:xfrm>
            <a:off x="17069345" y="-752787"/>
            <a:ext cx="5333485" cy="7778750"/>
            <a:chOff x="0" y="0"/>
            <a:chExt cx="9404416" cy="13716099"/>
          </a:xfrm>
          <a:solidFill>
            <a:srgbClr val="5C9346"/>
          </a:solidFill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9657F104-5442-A612-831F-A895A2B02920}"/>
                </a:ext>
              </a:extLst>
            </p:cNvPr>
            <p:cNvSpPr/>
            <p:nvPr/>
          </p:nvSpPr>
          <p:spPr>
            <a:xfrm>
              <a:off x="0" y="127"/>
              <a:ext cx="9404477" cy="13715873"/>
            </a:xfrm>
            <a:custGeom>
              <a:avLst/>
              <a:gdLst/>
              <a:ahLst/>
              <a:cxnLst/>
              <a:rect l="l" t="t" r="r" b="b"/>
              <a:pathLst>
                <a:path w="9404477" h="13715873">
                  <a:moveTo>
                    <a:pt x="5384800" y="0"/>
                  </a:moveTo>
                  <a:lnTo>
                    <a:pt x="1541907" y="1401064"/>
                  </a:lnTo>
                  <a:cubicBezTo>
                    <a:pt x="559816" y="1759839"/>
                    <a:pt x="0" y="3027172"/>
                    <a:pt x="291973" y="4232529"/>
                  </a:cubicBezTo>
                  <a:lnTo>
                    <a:pt x="2592705" y="13715873"/>
                  </a:lnTo>
                  <a:lnTo>
                    <a:pt x="9404477" y="13715873"/>
                  </a:lnTo>
                  <a:lnTo>
                    <a:pt x="9404477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093EE425-7A6A-F077-4D49-51E37786F22E}"/>
              </a:ext>
            </a:extLst>
          </p:cNvPr>
          <p:cNvSpPr/>
          <p:nvPr/>
        </p:nvSpPr>
        <p:spPr>
          <a:xfrm>
            <a:off x="15932314" y="-885831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F37C1953-3826-15BB-874E-AFC750871860}"/>
              </a:ext>
            </a:extLst>
          </p:cNvPr>
          <p:cNvSpPr txBox="1"/>
          <p:nvPr/>
        </p:nvSpPr>
        <p:spPr>
          <a:xfrm>
            <a:off x="11125200" y="6182827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b="1" dirty="0"/>
              <a:t>Line Worker UI Accessibility</a:t>
            </a:r>
            <a:endParaRPr lang="he-IL" sz="3600" dirty="0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1E0CC322-F7F0-8E26-C587-147D404E0ED8}"/>
              </a:ext>
            </a:extLst>
          </p:cNvPr>
          <p:cNvSpPr txBox="1"/>
          <p:nvPr/>
        </p:nvSpPr>
        <p:spPr>
          <a:xfrm>
            <a:off x="10352893" y="6711945"/>
            <a:ext cx="6645520" cy="16927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algn="ctr"/>
            <a:r>
              <a:rPr lang="en-US" sz="2600" dirty="0"/>
              <a:t>The filtering screen must be designed with extreme simplicity, visual clarity, and large, clear controls to minimize errors by kitchen staff in a fast-paced environment.</a:t>
            </a: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72F4FFDD-EFDA-6C2E-79FE-A32656B2006A}"/>
              </a:ext>
            </a:extLst>
          </p:cNvPr>
          <p:cNvSpPr txBox="1"/>
          <p:nvPr/>
        </p:nvSpPr>
        <p:spPr>
          <a:xfrm>
            <a:off x="1544397" y="6137395"/>
            <a:ext cx="664552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/>
            <a:r>
              <a:rPr lang="he-IL" sz="3600" b="1" dirty="0" err="1"/>
              <a:t>Authentication</a:t>
            </a:r>
            <a:r>
              <a:rPr lang="he-IL" sz="3600" b="1" dirty="0"/>
              <a:t> &amp; </a:t>
            </a:r>
            <a:r>
              <a:rPr lang="he-IL" sz="3600" b="1" dirty="0" err="1"/>
              <a:t>Authorization</a:t>
            </a:r>
            <a:r>
              <a:rPr lang="he-IL" sz="3600" b="1" dirty="0"/>
              <a:t>:</a:t>
            </a:r>
            <a:endParaRPr lang="en-US" sz="3600" dirty="0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263CE054-BF09-29A8-9E90-4CBC762FD21A}"/>
              </a:ext>
            </a:extLst>
          </p:cNvPr>
          <p:cNvSpPr txBox="1"/>
          <p:nvPr/>
        </p:nvSpPr>
        <p:spPr>
          <a:xfrm>
            <a:off x="1324000" y="6740910"/>
            <a:ext cx="6645520" cy="249299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algn="ctr"/>
            <a:r>
              <a:rPr lang="en-US" sz="2600" dirty="0"/>
              <a:t>User passwords must be securely stored (hashed/encrypted) in the database.</a:t>
            </a:r>
          </a:p>
          <a:p>
            <a:pPr lvl="1" algn="ctr"/>
            <a:r>
              <a:rPr lang="en-US" sz="2600" dirty="0"/>
              <a:t>Role-Based Access Control (RBAC) must be enforced: Line Workers receive Read-Only access; Dietitians receive Read/Write (editing) access.</a:t>
            </a:r>
          </a:p>
        </p:txBody>
      </p:sp>
    </p:spTree>
    <p:extLst>
      <p:ext uri="{BB962C8B-B14F-4D97-AF65-F5344CB8AC3E}">
        <p14:creationId xmlns:p14="http://schemas.microsoft.com/office/powerpoint/2010/main" val="3186465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41198" y="-1056650"/>
            <a:ext cx="2319000" cy="2319000"/>
            <a:chOff x="0" y="0"/>
            <a:chExt cx="3092000" cy="3092000"/>
          </a:xfrm>
          <a:solidFill>
            <a:srgbClr val="449FC3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3091942" cy="3091942"/>
            </a:xfrm>
            <a:custGeom>
              <a:avLst/>
              <a:gdLst/>
              <a:ahLst/>
              <a:cxnLst/>
              <a:rect l="l" t="t" r="r" b="b"/>
              <a:pathLst>
                <a:path w="3091942" h="3091942">
                  <a:moveTo>
                    <a:pt x="0" y="1545971"/>
                  </a:moveTo>
                  <a:cubicBezTo>
                    <a:pt x="0" y="692150"/>
                    <a:pt x="692150" y="0"/>
                    <a:pt x="1545971" y="0"/>
                  </a:cubicBezTo>
                  <a:cubicBezTo>
                    <a:pt x="2399792" y="0"/>
                    <a:pt x="3091942" y="692150"/>
                    <a:pt x="3091942" y="1545971"/>
                  </a:cubicBezTo>
                  <a:cubicBezTo>
                    <a:pt x="3091942" y="2399792"/>
                    <a:pt x="2399792" y="3091942"/>
                    <a:pt x="1545971" y="3091942"/>
                  </a:cubicBezTo>
                  <a:cubicBezTo>
                    <a:pt x="692150" y="3091942"/>
                    <a:pt x="0" y="2399792"/>
                    <a:pt x="0" y="1545971"/>
                  </a:cubicBezTo>
                  <a:close/>
                  <a:moveTo>
                    <a:pt x="551688" y="1545971"/>
                  </a:moveTo>
                  <a:cubicBezTo>
                    <a:pt x="551688" y="2095119"/>
                    <a:pt x="996823" y="2540254"/>
                    <a:pt x="1545971" y="2540254"/>
                  </a:cubicBezTo>
                  <a:cubicBezTo>
                    <a:pt x="2095119" y="2540254"/>
                    <a:pt x="2540254" y="2095119"/>
                    <a:pt x="2540254" y="1545971"/>
                  </a:cubicBezTo>
                  <a:cubicBezTo>
                    <a:pt x="2540254" y="996823"/>
                    <a:pt x="2095119" y="551688"/>
                    <a:pt x="1545971" y="551688"/>
                  </a:cubicBezTo>
                  <a:cubicBezTo>
                    <a:pt x="996823" y="551688"/>
                    <a:pt x="551688" y="996823"/>
                    <a:pt x="551688" y="1545971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4" name="Freeform 4"/>
          <p:cNvSpPr/>
          <p:nvPr/>
        </p:nvSpPr>
        <p:spPr>
          <a:xfrm>
            <a:off x="-767066" y="7981118"/>
            <a:ext cx="3435372" cy="3436200"/>
          </a:xfrm>
          <a:custGeom>
            <a:avLst/>
            <a:gdLst/>
            <a:ahLst/>
            <a:cxnLst/>
            <a:rect l="l" t="t" r="r" b="b"/>
            <a:pathLst>
              <a:path w="3435372" h="3436200">
                <a:moveTo>
                  <a:pt x="0" y="0"/>
                </a:moveTo>
                <a:lnTo>
                  <a:pt x="3435372" y="0"/>
                </a:lnTo>
                <a:lnTo>
                  <a:pt x="3435372" y="3436200"/>
                </a:lnTo>
                <a:lnTo>
                  <a:pt x="0" y="343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grpSp>
        <p:nvGrpSpPr>
          <p:cNvPr id="5" name="Group 5"/>
          <p:cNvGrpSpPr/>
          <p:nvPr/>
        </p:nvGrpSpPr>
        <p:grpSpPr>
          <a:xfrm>
            <a:off x="1983500" y="7981100"/>
            <a:ext cx="1722000" cy="1722000"/>
            <a:chOff x="0" y="0"/>
            <a:chExt cx="2296000" cy="2296000"/>
          </a:xfrm>
          <a:solidFill>
            <a:srgbClr val="5C9346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2295906" cy="2295906"/>
            </a:xfrm>
            <a:custGeom>
              <a:avLst/>
              <a:gdLst/>
              <a:ahLst/>
              <a:cxnLst/>
              <a:rect l="l" t="t" r="r" b="b"/>
              <a:pathLst>
                <a:path w="2295906" h="2295906">
                  <a:moveTo>
                    <a:pt x="0" y="1147953"/>
                  </a:moveTo>
                  <a:cubicBezTo>
                    <a:pt x="0" y="513969"/>
                    <a:pt x="513969" y="0"/>
                    <a:pt x="1147953" y="0"/>
                  </a:cubicBezTo>
                  <a:cubicBezTo>
                    <a:pt x="1781937" y="0"/>
                    <a:pt x="2295906" y="513969"/>
                    <a:pt x="2295906" y="1147953"/>
                  </a:cubicBezTo>
                  <a:cubicBezTo>
                    <a:pt x="2295906" y="1781937"/>
                    <a:pt x="1781937" y="2295906"/>
                    <a:pt x="1147953" y="2295906"/>
                  </a:cubicBezTo>
                  <a:cubicBezTo>
                    <a:pt x="513969" y="2295906"/>
                    <a:pt x="0" y="1782064"/>
                    <a:pt x="0" y="1147953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08100" y="6715736"/>
            <a:ext cx="649200" cy="649200"/>
            <a:chOff x="0" y="0"/>
            <a:chExt cx="865600" cy="865600"/>
          </a:xfrm>
          <a:solidFill>
            <a:schemeClr val="tx1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865632" cy="865632"/>
            </a:xfrm>
            <a:custGeom>
              <a:avLst/>
              <a:gdLst/>
              <a:ahLst/>
              <a:cxnLst/>
              <a:rect l="l" t="t" r="r" b="b"/>
              <a:pathLst>
                <a:path w="865632" h="865632">
                  <a:moveTo>
                    <a:pt x="0" y="432816"/>
                  </a:moveTo>
                  <a:cubicBezTo>
                    <a:pt x="0" y="193802"/>
                    <a:pt x="193802" y="0"/>
                    <a:pt x="432816" y="0"/>
                  </a:cubicBezTo>
                  <a:cubicBezTo>
                    <a:pt x="671830" y="0"/>
                    <a:pt x="865632" y="193802"/>
                    <a:pt x="865632" y="432816"/>
                  </a:cubicBezTo>
                  <a:cubicBezTo>
                    <a:pt x="865632" y="671830"/>
                    <a:pt x="671830" y="865632"/>
                    <a:pt x="432816" y="865632"/>
                  </a:cubicBezTo>
                  <a:cubicBezTo>
                    <a:pt x="193802" y="865632"/>
                    <a:pt x="0" y="671830"/>
                    <a:pt x="0" y="432816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378050" y="492044"/>
            <a:ext cx="466800" cy="466800"/>
            <a:chOff x="0" y="0"/>
            <a:chExt cx="622400" cy="622400"/>
          </a:xfrm>
          <a:solidFill>
            <a:srgbClr val="5C9346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311150"/>
                  </a:moveTo>
                  <a:cubicBezTo>
                    <a:pt x="0" y="139319"/>
                    <a:pt x="139319" y="0"/>
                    <a:pt x="311150" y="0"/>
                  </a:cubicBezTo>
                  <a:cubicBezTo>
                    <a:pt x="482981" y="0"/>
                    <a:pt x="622300" y="139319"/>
                    <a:pt x="622300" y="311150"/>
                  </a:cubicBezTo>
                  <a:cubicBezTo>
                    <a:pt x="622300" y="482981"/>
                    <a:pt x="482981" y="622300"/>
                    <a:pt x="311150" y="622300"/>
                  </a:cubicBezTo>
                  <a:cubicBezTo>
                    <a:pt x="139319" y="622300"/>
                    <a:pt x="0" y="483108"/>
                    <a:pt x="0" y="31115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707800" y="958848"/>
            <a:ext cx="271200" cy="271200"/>
            <a:chOff x="0" y="0"/>
            <a:chExt cx="361600" cy="36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569" cy="361569"/>
            </a:xfrm>
            <a:custGeom>
              <a:avLst/>
              <a:gdLst/>
              <a:ahLst/>
              <a:cxnLst/>
              <a:rect l="l" t="t" r="r" b="b"/>
              <a:pathLst>
                <a:path w="361569" h="361569">
                  <a:moveTo>
                    <a:pt x="0" y="180848"/>
                  </a:moveTo>
                  <a:cubicBezTo>
                    <a:pt x="0" y="80899"/>
                    <a:pt x="80899" y="0"/>
                    <a:pt x="180848" y="0"/>
                  </a:cubicBezTo>
                  <a:cubicBezTo>
                    <a:pt x="280797" y="0"/>
                    <a:pt x="361569" y="80899"/>
                    <a:pt x="361569" y="180848"/>
                  </a:cubicBezTo>
                  <a:cubicBezTo>
                    <a:pt x="361569" y="280797"/>
                    <a:pt x="280670" y="361569"/>
                    <a:pt x="180848" y="361569"/>
                  </a:cubicBezTo>
                  <a:cubicBezTo>
                    <a:pt x="81026" y="361569"/>
                    <a:pt x="0" y="280670"/>
                    <a:pt x="0" y="180848"/>
                  </a:cubicBezTo>
                  <a:close/>
                </a:path>
              </a:pathLst>
            </a:custGeom>
            <a:solidFill>
              <a:srgbClr val="343434"/>
            </a:solidFill>
          </p:spPr>
          <p:txBody>
            <a:bodyPr/>
            <a:lstStyle/>
            <a:p>
              <a:endParaRPr lang="en-IL">
                <a:solidFill>
                  <a:srgbClr val="449EC2"/>
                </a:solidFill>
              </a:endParaRPr>
            </a:p>
          </p:txBody>
        </p:sp>
      </p:grp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52E1B691-6628-5988-458A-75A47B179E7E}"/>
              </a:ext>
            </a:extLst>
          </p:cNvPr>
          <p:cNvSpPr txBox="1"/>
          <p:nvPr/>
        </p:nvSpPr>
        <p:spPr>
          <a:xfrm>
            <a:off x="5562600" y="3820061"/>
            <a:ext cx="7162800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0" b="1" dirty="0"/>
              <a:t>Thank you !</a:t>
            </a:r>
            <a:endParaRPr lang="he-IL" sz="8000" b="1" dirty="0"/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AE1D56DC-FAEF-0E32-6132-7C84DB613F82}"/>
              </a:ext>
            </a:extLst>
          </p:cNvPr>
          <p:cNvGrpSpPr/>
          <p:nvPr/>
        </p:nvGrpSpPr>
        <p:grpSpPr>
          <a:xfrm>
            <a:off x="-3499785" y="-5448300"/>
            <a:ext cx="6344250" cy="9577550"/>
            <a:chOff x="0" y="0"/>
            <a:chExt cx="8459000" cy="12770067"/>
          </a:xfrm>
          <a:solidFill>
            <a:srgbClr val="449FC3"/>
          </a:solidFill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C1B282D1-5BFB-44CC-8022-B0D12B5A524B}"/>
                </a:ext>
              </a:extLst>
            </p:cNvPr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/>
            </a:p>
          </p:txBody>
        </p:sp>
      </p:grpSp>
      <p:grpSp>
        <p:nvGrpSpPr>
          <p:cNvPr id="16" name="Group 3">
            <a:extLst>
              <a:ext uri="{FF2B5EF4-FFF2-40B4-BE49-F238E27FC236}">
                <a16:creationId xmlns:a16="http://schemas.microsoft.com/office/drawing/2014/main" id="{EE60419C-67D8-3FA7-6266-DBE0047B47A6}"/>
              </a:ext>
            </a:extLst>
          </p:cNvPr>
          <p:cNvGrpSpPr/>
          <p:nvPr/>
        </p:nvGrpSpPr>
        <p:grpSpPr>
          <a:xfrm rot="14215682">
            <a:off x="10344203" y="6311917"/>
            <a:ext cx="6344250" cy="9577550"/>
            <a:chOff x="0" y="0"/>
            <a:chExt cx="8459000" cy="12770067"/>
          </a:xfrm>
          <a:solidFill>
            <a:srgbClr val="449FC3"/>
          </a:solidFill>
        </p:grpSpPr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435F4CDF-2F24-1F35-B570-843FE11E5806}"/>
                </a:ext>
              </a:extLst>
            </p:cNvPr>
            <p:cNvSpPr/>
            <p:nvPr/>
          </p:nvSpPr>
          <p:spPr>
            <a:xfrm>
              <a:off x="127" y="0"/>
              <a:ext cx="8458962" cy="12770104"/>
            </a:xfrm>
            <a:custGeom>
              <a:avLst/>
              <a:gdLst/>
              <a:ahLst/>
              <a:cxnLst/>
              <a:rect l="l" t="t" r="r" b="b"/>
              <a:pathLst>
                <a:path w="8458962" h="12770104">
                  <a:moveTo>
                    <a:pt x="1097534" y="0"/>
                  </a:moveTo>
                  <a:cubicBezTo>
                    <a:pt x="934212" y="0"/>
                    <a:pt x="768731" y="41656"/>
                    <a:pt x="616839" y="129032"/>
                  </a:cubicBezTo>
                  <a:cubicBezTo>
                    <a:pt x="157353" y="394589"/>
                    <a:pt x="0" y="982853"/>
                    <a:pt x="265430" y="1442339"/>
                  </a:cubicBezTo>
                  <a:lnTo>
                    <a:pt x="6527038" y="12289663"/>
                  </a:lnTo>
                  <a:cubicBezTo>
                    <a:pt x="6706108" y="12597765"/>
                    <a:pt x="7029704" y="12770104"/>
                    <a:pt x="7361936" y="12770104"/>
                  </a:cubicBezTo>
                  <a:cubicBezTo>
                    <a:pt x="7525258" y="12770104"/>
                    <a:pt x="7690485" y="12728448"/>
                    <a:pt x="7841996" y="12641072"/>
                  </a:cubicBezTo>
                  <a:cubicBezTo>
                    <a:pt x="8301482" y="12375515"/>
                    <a:pt x="8458962" y="11787251"/>
                    <a:pt x="8193405" y="11327638"/>
                  </a:cubicBezTo>
                  <a:lnTo>
                    <a:pt x="1930146" y="480441"/>
                  </a:lnTo>
                  <a:cubicBezTo>
                    <a:pt x="1752092" y="172212"/>
                    <a:pt x="1429639" y="0"/>
                    <a:pt x="1097534" y="0"/>
                  </a:cubicBezTo>
                  <a:close/>
                </a:path>
              </a:pathLst>
            </a:custGeom>
            <a:solidFill>
              <a:srgbClr val="5C9346"/>
            </a:solidFill>
          </p:spPr>
          <p:txBody>
            <a:bodyPr/>
            <a:lstStyle/>
            <a:p>
              <a:endParaRPr lang="en-IL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746</Words>
  <Application>Microsoft Office PowerPoint</Application>
  <PresentationFormat>Custom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IT-services.pptx</dc:title>
  <dc:creator>user</dc:creator>
  <cp:lastModifiedBy>תומר נתן</cp:lastModifiedBy>
  <cp:revision>21</cp:revision>
  <dcterms:created xsi:type="dcterms:W3CDTF">2006-08-16T00:00:00Z</dcterms:created>
  <dcterms:modified xsi:type="dcterms:W3CDTF">2026-01-07T12:45:15Z</dcterms:modified>
  <dc:identifier>DAGyCcaZXP0</dc:identifier>
</cp:coreProperties>
</file>