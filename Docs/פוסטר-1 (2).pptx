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4"/>
  </p:sldMasterIdLst>
  <p:sldIdLst>
    <p:sldId id="332" r:id="rId5"/>
  </p:sldIdLst>
  <p:sldSz cx="42479913" cy="30600650"/>
  <p:notesSz cx="6797675" cy="9872663"/>
  <p:defaultTextStyle>
    <a:defPPr>
      <a:defRPr lang="he-IL"/>
    </a:defPPr>
    <a:lvl1pPr marL="0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91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821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732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64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553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46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374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1285" algn="r" defTabSz="3507821" rtl="1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5C183F-0B9A-9D82-CB1E-1EA3937DA774}" name="Nir Elenberg" initials="NE" userId="S::nir@afeka.ac.il::377cad1b-e1cf-45bd-8b54-665ab14512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967D"/>
    <a:srgbClr val="8BC43D"/>
    <a:srgbClr val="FFFFFF"/>
    <a:srgbClr val="00381F"/>
    <a:srgbClr val="12B26A"/>
    <a:srgbClr val="F0F0F0"/>
    <a:srgbClr val="73BF43"/>
    <a:srgbClr val="6E2B8F"/>
    <a:srgbClr val="E57121"/>
    <a:srgbClr val="00A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24" autoAdjust="0"/>
    <p:restoredTop sz="94660"/>
  </p:normalViewPr>
  <p:slideViewPr>
    <p:cSldViewPr snapToGrid="0">
      <p:cViewPr varScale="1">
        <p:scale>
          <a:sx n="27" d="100"/>
          <a:sy n="27" d="100"/>
        </p:scale>
        <p:origin x="108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85994" y="5008025"/>
            <a:ext cx="36107926" cy="10653560"/>
          </a:xfrm>
        </p:spPr>
        <p:txBody>
          <a:bodyPr anchor="b"/>
          <a:lstStyle>
            <a:lvl1pPr algn="ctr"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9989" y="16072427"/>
            <a:ext cx="31859935" cy="7388071"/>
          </a:xfrm>
        </p:spPr>
        <p:txBody>
          <a:bodyPr/>
          <a:lstStyle>
            <a:lvl1pPr marL="0" indent="0" algn="ctr">
              <a:buNone/>
              <a:defRPr sz="10709"/>
            </a:lvl1pPr>
            <a:lvl2pPr marL="2040026" indent="0" algn="ctr">
              <a:buNone/>
              <a:defRPr sz="8924"/>
            </a:lvl2pPr>
            <a:lvl3pPr marL="4080053" indent="0" algn="ctr">
              <a:buNone/>
              <a:defRPr sz="8032"/>
            </a:lvl3pPr>
            <a:lvl4pPr marL="6120079" indent="0" algn="ctr">
              <a:buNone/>
              <a:defRPr sz="7139"/>
            </a:lvl4pPr>
            <a:lvl5pPr marL="8160106" indent="0" algn="ctr">
              <a:buNone/>
              <a:defRPr sz="7139"/>
            </a:lvl5pPr>
            <a:lvl6pPr marL="10200132" indent="0" algn="ctr">
              <a:buNone/>
              <a:defRPr sz="7139"/>
            </a:lvl6pPr>
            <a:lvl7pPr marL="12240158" indent="0" algn="ctr">
              <a:buNone/>
              <a:defRPr sz="7139"/>
            </a:lvl7pPr>
            <a:lvl8pPr marL="14280185" indent="0" algn="ctr">
              <a:buNone/>
              <a:defRPr sz="7139"/>
            </a:lvl8pPr>
            <a:lvl9pPr marL="16320211" indent="0" algn="ctr">
              <a:buNone/>
              <a:defRPr sz="7139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851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154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8371" y="7628921"/>
            <a:ext cx="36638925" cy="12729018"/>
          </a:xfrm>
        </p:spPr>
        <p:txBody>
          <a:bodyPr anchor="b"/>
          <a:lstStyle>
            <a:lvl1pPr>
              <a:defRPr sz="26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8371" y="20478361"/>
            <a:ext cx="36638925" cy="6693890"/>
          </a:xfrm>
        </p:spPr>
        <p:txBody>
          <a:bodyPr/>
          <a:lstStyle>
            <a:lvl1pPr marL="0" indent="0">
              <a:buNone/>
              <a:defRPr sz="10709">
                <a:solidFill>
                  <a:schemeClr val="tx1"/>
                </a:solidFill>
              </a:defRPr>
            </a:lvl1pPr>
            <a:lvl2pPr marL="2040026" indent="0">
              <a:buNone/>
              <a:defRPr sz="8924">
                <a:solidFill>
                  <a:schemeClr val="tx1">
                    <a:tint val="75000"/>
                  </a:schemeClr>
                </a:solidFill>
              </a:defRPr>
            </a:lvl2pPr>
            <a:lvl3pPr marL="4080053" indent="0">
              <a:buNone/>
              <a:defRPr sz="8032">
                <a:solidFill>
                  <a:schemeClr val="tx1">
                    <a:tint val="75000"/>
                  </a:schemeClr>
                </a:solidFill>
              </a:defRPr>
            </a:lvl3pPr>
            <a:lvl4pPr marL="6120079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4pPr>
            <a:lvl5pPr marL="8160106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5pPr>
            <a:lvl6pPr marL="10200132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6pPr>
            <a:lvl7pPr marL="12240158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7pPr>
            <a:lvl8pPr marL="14280185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8pPr>
            <a:lvl9pPr marL="16320211" indent="0">
              <a:buNone/>
              <a:defRPr sz="71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009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0494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05456" y="8146007"/>
            <a:ext cx="18053963" cy="1941583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584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1629208"/>
            <a:ext cx="36638925" cy="591471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31" y="7501412"/>
            <a:ext cx="17970992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31" y="11177737"/>
            <a:ext cx="17970992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05458" y="7501412"/>
            <a:ext cx="18059496" cy="3676326"/>
          </a:xfrm>
        </p:spPr>
        <p:txBody>
          <a:bodyPr anchor="b"/>
          <a:lstStyle>
            <a:lvl1pPr marL="0" indent="0">
              <a:buNone/>
              <a:defRPr sz="10709" b="1"/>
            </a:lvl1pPr>
            <a:lvl2pPr marL="2040026" indent="0">
              <a:buNone/>
              <a:defRPr sz="8924" b="1"/>
            </a:lvl2pPr>
            <a:lvl3pPr marL="4080053" indent="0">
              <a:buNone/>
              <a:defRPr sz="8032" b="1"/>
            </a:lvl3pPr>
            <a:lvl4pPr marL="6120079" indent="0">
              <a:buNone/>
              <a:defRPr sz="7139" b="1"/>
            </a:lvl4pPr>
            <a:lvl5pPr marL="8160106" indent="0">
              <a:buNone/>
              <a:defRPr sz="7139" b="1"/>
            </a:lvl5pPr>
            <a:lvl6pPr marL="10200132" indent="0">
              <a:buNone/>
              <a:defRPr sz="7139" b="1"/>
            </a:lvl6pPr>
            <a:lvl7pPr marL="12240158" indent="0">
              <a:buNone/>
              <a:defRPr sz="7139" b="1"/>
            </a:lvl7pPr>
            <a:lvl8pPr marL="14280185" indent="0">
              <a:buNone/>
              <a:defRPr sz="7139" b="1"/>
            </a:lvl8pPr>
            <a:lvl9pPr marL="16320211" indent="0">
              <a:buNone/>
              <a:defRPr sz="7139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505458" y="11177737"/>
            <a:ext cx="18059496" cy="164407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8251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91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167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59496" y="4405934"/>
            <a:ext cx="21505456" cy="21746295"/>
          </a:xfrm>
        </p:spPr>
        <p:txBody>
          <a:bodyPr/>
          <a:lstStyle>
            <a:lvl1pPr>
              <a:defRPr sz="14278"/>
            </a:lvl1pPr>
            <a:lvl2pPr>
              <a:defRPr sz="12494"/>
            </a:lvl2pPr>
            <a:lvl3pPr>
              <a:defRPr sz="10709"/>
            </a:lvl3pPr>
            <a:lvl4pPr>
              <a:defRPr sz="8924"/>
            </a:lvl4pPr>
            <a:lvl5pPr>
              <a:defRPr sz="8924"/>
            </a:lvl5pPr>
            <a:lvl6pPr>
              <a:defRPr sz="8924"/>
            </a:lvl6pPr>
            <a:lvl7pPr>
              <a:defRPr sz="8924"/>
            </a:lvl7pPr>
            <a:lvl8pPr>
              <a:defRPr sz="8924"/>
            </a:lvl8pPr>
            <a:lvl9pPr>
              <a:defRPr sz="8924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20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27" y="2040043"/>
            <a:ext cx="13700878" cy="7140152"/>
          </a:xfrm>
        </p:spPr>
        <p:txBody>
          <a:bodyPr anchor="b"/>
          <a:lstStyle>
            <a:lvl1pPr>
              <a:defRPr sz="14278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059496" y="4405934"/>
            <a:ext cx="21505456" cy="21746295"/>
          </a:xfrm>
        </p:spPr>
        <p:txBody>
          <a:bodyPr anchor="t"/>
          <a:lstStyle>
            <a:lvl1pPr marL="0" indent="0">
              <a:buNone/>
              <a:defRPr sz="14278"/>
            </a:lvl1pPr>
            <a:lvl2pPr marL="2040026" indent="0">
              <a:buNone/>
              <a:defRPr sz="12494"/>
            </a:lvl2pPr>
            <a:lvl3pPr marL="4080053" indent="0">
              <a:buNone/>
              <a:defRPr sz="10709"/>
            </a:lvl3pPr>
            <a:lvl4pPr marL="6120079" indent="0">
              <a:buNone/>
              <a:defRPr sz="8924"/>
            </a:lvl4pPr>
            <a:lvl5pPr marL="8160106" indent="0">
              <a:buNone/>
              <a:defRPr sz="8924"/>
            </a:lvl5pPr>
            <a:lvl6pPr marL="10200132" indent="0">
              <a:buNone/>
              <a:defRPr sz="8924"/>
            </a:lvl6pPr>
            <a:lvl7pPr marL="12240158" indent="0">
              <a:buNone/>
              <a:defRPr sz="8924"/>
            </a:lvl7pPr>
            <a:lvl8pPr marL="14280185" indent="0">
              <a:buNone/>
              <a:defRPr sz="8924"/>
            </a:lvl8pPr>
            <a:lvl9pPr marL="16320211" indent="0">
              <a:buNone/>
              <a:defRPr sz="8924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27" y="9180195"/>
            <a:ext cx="13700878" cy="17007447"/>
          </a:xfrm>
        </p:spPr>
        <p:txBody>
          <a:bodyPr/>
          <a:lstStyle>
            <a:lvl1pPr marL="0" indent="0">
              <a:buNone/>
              <a:defRPr sz="7139"/>
            </a:lvl1pPr>
            <a:lvl2pPr marL="2040026" indent="0">
              <a:buNone/>
              <a:defRPr sz="6247"/>
            </a:lvl2pPr>
            <a:lvl3pPr marL="4080053" indent="0">
              <a:buNone/>
              <a:defRPr sz="5354"/>
            </a:lvl3pPr>
            <a:lvl4pPr marL="6120079" indent="0">
              <a:buNone/>
              <a:defRPr sz="4462"/>
            </a:lvl4pPr>
            <a:lvl5pPr marL="8160106" indent="0">
              <a:buNone/>
              <a:defRPr sz="4462"/>
            </a:lvl5pPr>
            <a:lvl6pPr marL="10200132" indent="0">
              <a:buNone/>
              <a:defRPr sz="4462"/>
            </a:lvl6pPr>
            <a:lvl7pPr marL="12240158" indent="0">
              <a:buNone/>
              <a:defRPr sz="4462"/>
            </a:lvl7pPr>
            <a:lvl8pPr marL="14280185" indent="0">
              <a:buNone/>
              <a:defRPr sz="4462"/>
            </a:lvl8pPr>
            <a:lvl9pPr marL="16320211" indent="0">
              <a:buNone/>
              <a:defRPr sz="446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630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662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399690" y="1629201"/>
            <a:ext cx="9159731" cy="2593263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20496" y="1629201"/>
            <a:ext cx="26948195" cy="2593263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4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0494" y="1629208"/>
            <a:ext cx="36638925" cy="591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94" y="8146007"/>
            <a:ext cx="36638925" cy="1941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20494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38E48-F708-4DD5-A3C4-8D7851AB3431}" type="datetimeFigureOut">
              <a:rPr lang="he-IL" smtClean="0"/>
              <a:t>כ'.סיון.תשפ"ו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071471" y="28362276"/>
            <a:ext cx="14336971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001439" y="28362276"/>
            <a:ext cx="9557980" cy="162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F0D2A-E218-47E0-A883-B788501C2B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90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80053" rtl="1" eaLnBrk="1" latinLnBrk="0" hangingPunct="1">
        <a:lnSpc>
          <a:spcPct val="90000"/>
        </a:lnSpc>
        <a:spcBef>
          <a:spcPct val="0"/>
        </a:spcBef>
        <a:buNone/>
        <a:defRPr sz="196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013" indent="-1020013" algn="r" defTabSz="4080053" rtl="1" eaLnBrk="1" latinLnBrk="0" hangingPunct="1">
        <a:lnSpc>
          <a:spcPct val="90000"/>
        </a:lnSpc>
        <a:spcBef>
          <a:spcPts val="4462"/>
        </a:spcBef>
        <a:buFont typeface="Arial" panose="020B0604020202020204" pitchFamily="34" charset="0"/>
        <a:buChar char="•"/>
        <a:defRPr sz="12494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0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10709" kern="1200">
          <a:solidFill>
            <a:schemeClr val="tx1"/>
          </a:solidFill>
          <a:latin typeface="+mn-lt"/>
          <a:ea typeface="+mn-ea"/>
          <a:cs typeface="+mn-cs"/>
        </a:defRPr>
      </a:lvl2pPr>
      <a:lvl3pPr marL="5100066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924" kern="1200">
          <a:solidFill>
            <a:schemeClr val="tx1"/>
          </a:solidFill>
          <a:latin typeface="+mn-lt"/>
          <a:ea typeface="+mn-ea"/>
          <a:cs typeface="+mn-cs"/>
        </a:defRPr>
      </a:lvl3pPr>
      <a:lvl4pPr marL="714009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9180119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1220145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3260172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5300198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7340224" indent="-1020013" algn="r" defTabSz="4080053" rtl="1" eaLnBrk="1" latinLnBrk="0" hangingPunct="1">
        <a:lnSpc>
          <a:spcPct val="90000"/>
        </a:lnSpc>
        <a:spcBef>
          <a:spcPts val="2231"/>
        </a:spcBef>
        <a:buFont typeface="Arial" panose="020B0604020202020204" pitchFamily="34" charset="0"/>
        <a:buChar char="•"/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1pPr>
      <a:lvl2pPr marL="204002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2pPr>
      <a:lvl3pPr marL="4080053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3pPr>
      <a:lvl4pPr marL="6120079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4pPr>
      <a:lvl5pPr marL="8160106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5pPr>
      <a:lvl6pPr marL="10200132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6pPr>
      <a:lvl7pPr marL="12240158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7pPr>
      <a:lvl8pPr marL="14280185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8pPr>
      <a:lvl9pPr marL="16320211" algn="r" defTabSz="4080053" rtl="1" eaLnBrk="1" latinLnBrk="0" hangingPunct="1">
        <a:defRPr sz="80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jpeg"/><Relationship Id="rId2" Type="http://schemas.openxmlformats.org/officeDocument/2006/relationships/image" Target="../media/image1.png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7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3A04-4BC4-77C4-08C2-1273754D1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תמונה 11">
            <a:extLst>
              <a:ext uri="{FF2B5EF4-FFF2-40B4-BE49-F238E27FC236}">
                <a16:creationId xmlns:a16="http://schemas.microsoft.com/office/drawing/2014/main" id="{07C60B9D-3AE8-06E0-EEA7-428CF887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40"/>
            <a:ext cx="42479913" cy="30596710"/>
          </a:xfrm>
          <a:prstGeom prst="rect">
            <a:avLst/>
          </a:prstGeom>
        </p:spPr>
      </p:pic>
      <p:sp>
        <p:nvSpPr>
          <p:cNvPr id="4" name="project_name">
            <a:extLst>
              <a:ext uri="{FF2B5EF4-FFF2-40B4-BE49-F238E27FC236}">
                <a16:creationId xmlns:a16="http://schemas.microsoft.com/office/drawing/2014/main" id="{61B181F9-356E-9471-A343-2F16D4344304}"/>
              </a:ext>
            </a:extLst>
          </p:cNvPr>
          <p:cNvSpPr txBox="1"/>
          <p:nvPr/>
        </p:nvSpPr>
        <p:spPr>
          <a:xfrm>
            <a:off x="3048000" y="3645486"/>
            <a:ext cx="17564100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6600" b="1" dirty="0" err="1">
                <a:solidFill>
                  <a:srgbClr val="14967D"/>
                </a:solidFill>
              </a:rPr>
              <a:t>NutriCheck</a:t>
            </a:r>
            <a:r>
              <a:rPr lang="en-US" sz="6600" b="1" dirty="0">
                <a:solidFill>
                  <a:srgbClr val="14967D"/>
                </a:solidFill>
              </a:rPr>
              <a:t> - A Hospital Dietitian Management System </a:t>
            </a:r>
            <a:endParaRPr lang="he-IL" sz="6600" b="1" dirty="0">
              <a:solidFill>
                <a:srgbClr val="14967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F1FEF-A8E9-10B6-96A0-2909458C0C1E}"/>
              </a:ext>
            </a:extLst>
          </p:cNvPr>
          <p:cNvSpPr txBox="1"/>
          <p:nvPr/>
        </p:nvSpPr>
        <p:spPr>
          <a:xfrm>
            <a:off x="21574669" y="822029"/>
            <a:ext cx="19258789" cy="2123658"/>
          </a:xfrm>
          <a:prstGeom prst="rect">
            <a:avLst/>
          </a:prstGeom>
          <a:noFill/>
        </p:spPr>
        <p:txBody>
          <a:bodyPr wrap="square" lIns="91440" tIns="45720" rIns="91440" bIns="45720" rtlCol="1" anchor="ctr" anchorCtr="0">
            <a:spAutoFit/>
          </a:bodyPr>
          <a:lstStyle/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Tomer Natan, Mishel Svirsky</a:t>
            </a:r>
            <a:endParaRPr lang="he-IL" sz="4400" b="1" dirty="0">
              <a:solidFill>
                <a:schemeClr val="bg1"/>
              </a:solidFill>
            </a:endParaRPr>
          </a:p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Advisor: Dr. Sharon </a:t>
            </a:r>
            <a:r>
              <a:rPr lang="en-US" sz="4400" b="1">
                <a:solidFill>
                  <a:schemeClr val="bg1"/>
                </a:solidFill>
              </a:rPr>
              <a:t>Yalov</a:t>
            </a:r>
            <a:r>
              <a:rPr lang="en-US" sz="4400" b="1" dirty="0">
                <a:solidFill>
                  <a:schemeClr val="bg1"/>
                </a:solidFill>
              </a:rPr>
              <a:t>-Handzel</a:t>
            </a:r>
            <a:endParaRPr lang="en-US" sz="4400" b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 rtl="0"/>
            <a:r>
              <a:rPr lang="en-US" sz="4400" b="1" dirty="0">
                <a:solidFill>
                  <a:schemeClr val="bg1"/>
                </a:solidFill>
              </a:rPr>
              <a:t>Client: Meir Medical Center (Maggie Weinstein, Eyal </a:t>
            </a:r>
            <a:r>
              <a:rPr lang="en-US" sz="4400" b="1" dirty="0" err="1">
                <a:solidFill>
                  <a:schemeClr val="bg1"/>
                </a:solidFill>
              </a:rPr>
              <a:t>Assulin</a:t>
            </a:r>
            <a:r>
              <a:rPr lang="en-US" sz="4400" b="1" dirty="0">
                <a:solidFill>
                  <a:schemeClr val="bg1"/>
                </a:solidFill>
              </a:rPr>
              <a:t>, Galit Halfon) </a:t>
            </a:r>
            <a:endParaRPr lang="he-IL" sz="4400" b="1" dirty="0">
              <a:solidFill>
                <a:schemeClr val="bg1"/>
              </a:solidFill>
              <a:ea typeface="Calibri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8B34C-2A30-AACC-0E1E-F25AAC33EA47}"/>
              </a:ext>
            </a:extLst>
          </p:cNvPr>
          <p:cNvSpPr txBox="1"/>
          <p:nvPr/>
        </p:nvSpPr>
        <p:spPr>
          <a:xfrm>
            <a:off x="10095457" y="912516"/>
            <a:ext cx="10670994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8400" b="1" dirty="0">
                <a:solidFill>
                  <a:schemeClr val="bg1"/>
                </a:solidFill>
              </a:rPr>
              <a:t>| Computer Science</a:t>
            </a:r>
            <a:endParaRPr lang="he-IL" sz="8400" b="1" dirty="0">
              <a:solidFill>
                <a:schemeClr val="bg1"/>
              </a:solidFill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5AD4355B-D21E-DF74-BEB5-6FB463A3BB3D}"/>
              </a:ext>
            </a:extLst>
          </p:cNvPr>
          <p:cNvSpPr/>
          <p:nvPr/>
        </p:nvSpPr>
        <p:spPr>
          <a:xfrm>
            <a:off x="2621972" y="6071261"/>
            <a:ext cx="18144478" cy="104923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1" eaLnBrk="1" latinLnBrk="0" hangingPunct="1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167BDAD9-5FEF-9D65-A846-38591A805063}"/>
              </a:ext>
            </a:extLst>
          </p:cNvPr>
          <p:cNvSpPr/>
          <p:nvPr/>
        </p:nvSpPr>
        <p:spPr>
          <a:xfrm>
            <a:off x="21588900" y="16482986"/>
            <a:ext cx="18144478" cy="10492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3507821" rtl="0" eaLnBrk="1" latinLnBrk="0" hangingPunct="1"/>
            <a:endParaRPr lang="he-IL" dirty="0"/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C2CDA547-8CE9-8D69-1C8F-961E6A088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3534756"/>
            <a:ext cx="531533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3. Architecture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Box 20">
            <a:extLst>
              <a:ext uri="{FF2B5EF4-FFF2-40B4-BE49-F238E27FC236}">
                <a16:creationId xmlns:a16="http://schemas.microsoft.com/office/drawing/2014/main" id="{C8EC0DF9-3A3F-E2DB-8BB6-7E11BEAFE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163" y="16827081"/>
            <a:ext cx="7220338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</a:rPr>
              <a:t>4. Engineering challenge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101A42-4A4C-CFE8-08D1-5F2F0495F3F9}"/>
              </a:ext>
            </a:extLst>
          </p:cNvPr>
          <p:cNvSpPr txBox="1"/>
          <p:nvPr/>
        </p:nvSpPr>
        <p:spPr>
          <a:xfrm>
            <a:off x="2814703" y="7381619"/>
            <a:ext cx="10809857" cy="5445189"/>
          </a:xfrm>
          <a:prstGeom prst="rect">
            <a:avLst/>
          </a:prstGeom>
          <a:noFill/>
        </p:spPr>
        <p:txBody>
          <a:bodyPr wrap="square" rtlCol="1">
            <a:noAutofit/>
          </a:bodyPr>
          <a:lstStyle/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hospital currently relies on Excel files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Difficult data maintenance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Finding the right food information takes too</a:t>
            </a:r>
            <a:br>
              <a:rPr lang="en-US" sz="3600" dirty="0"/>
            </a:br>
            <a:r>
              <a:rPr lang="en-US" sz="3600" dirty="0"/>
              <a:t>much time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Staff must make quick decisions during busy hours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Limited Mobile Accessibility</a:t>
            </a:r>
          </a:p>
          <a:p>
            <a:pPr marL="571500" indent="-57150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Allergy mistakes can happen easily</a:t>
            </a:r>
          </a:p>
          <a:p>
            <a:pPr marL="571500" indent="-571500" algn="l" rtl="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l" rtl="0">
              <a:buFont typeface="Arial" panose="020B0604020202020204" pitchFamily="34" charset="0"/>
              <a:buChar char="•"/>
            </a:pPr>
            <a:endParaRPr lang="he-IL" sz="3600" dirty="0"/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3DCB5F8E-6760-82E6-8CC6-A722E0089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3" y="6468268"/>
            <a:ext cx="655789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he-IL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description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76863303-55F5-63F5-0A63-9FB3D7ACC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703" y="16960663"/>
            <a:ext cx="4538597" cy="771005"/>
          </a:xfrm>
          <a:prstGeom prst="rect">
            <a:avLst/>
          </a:prstGeom>
          <a:solidFill>
            <a:srgbClr val="14967D"/>
          </a:solidFill>
          <a:ln>
            <a:noFill/>
          </a:ln>
        </p:spPr>
        <p:txBody>
          <a:bodyPr wrap="square" lIns="92984" tIns="46494" rIns="92984" bIns="46494">
            <a:spAutoFit/>
          </a:bodyPr>
          <a:lstStyle/>
          <a:p>
            <a:pPr algn="l" rtl="0"/>
            <a:r>
              <a:rPr lang="en-US" altLang="he-IL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The Solution</a:t>
            </a:r>
            <a:endParaRPr lang="he-IL" altLang="he-IL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F096D5-E2F0-220C-1715-66A69BCD9467}"/>
              </a:ext>
            </a:extLst>
          </p:cNvPr>
          <p:cNvSpPr txBox="1"/>
          <p:nvPr/>
        </p:nvSpPr>
        <p:spPr>
          <a:xfrm>
            <a:off x="7565004" y="16808068"/>
            <a:ext cx="12921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dirty="0" err="1"/>
              <a:t>NutriCheck</a:t>
            </a:r>
            <a:r>
              <a:rPr lang="en-US" sz="3600" dirty="0"/>
              <a:t>: A professional digital platform that manages hospitals menus and allergen filtering in real-time.</a:t>
            </a:r>
            <a:endParaRPr lang="he-IL" sz="3600" dirty="0"/>
          </a:p>
        </p:txBody>
      </p:sp>
      <p:pic>
        <p:nvPicPr>
          <p:cNvPr id="14" name="Graphic 13" descr="Hospital outline">
            <a:extLst>
              <a:ext uri="{FF2B5EF4-FFF2-40B4-BE49-F238E27FC236}">
                <a16:creationId xmlns:a16="http://schemas.microsoft.com/office/drawing/2014/main" id="{87911494-56D4-C07C-1770-4B9CACBA5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8448" y="13553193"/>
            <a:ext cx="1603344" cy="1603344"/>
          </a:xfrm>
          <a:prstGeom prst="rect">
            <a:avLst/>
          </a:prstGeom>
        </p:spPr>
      </p:pic>
      <p:pic>
        <p:nvPicPr>
          <p:cNvPr id="16" name="Graphic 15" descr="Document with solid fill">
            <a:extLst>
              <a:ext uri="{FF2B5EF4-FFF2-40B4-BE49-F238E27FC236}">
                <a16:creationId xmlns:a16="http://schemas.microsoft.com/office/drawing/2014/main" id="{3BFFCCD1-4EB3-91A0-9D31-5B2291C8AB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2804" y="13729310"/>
            <a:ext cx="1427610" cy="14276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D2B8F8-0F79-5C21-37E7-74431FD858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6269" y="6315673"/>
            <a:ext cx="6557897" cy="6114129"/>
          </a:xfrm>
          <a:prstGeom prst="rect">
            <a:avLst/>
          </a:prstGeom>
        </p:spPr>
      </p:pic>
      <p:pic>
        <p:nvPicPr>
          <p:cNvPr id="20" name="Graphic 19" descr="Chef male with solid fill">
            <a:extLst>
              <a:ext uri="{FF2B5EF4-FFF2-40B4-BE49-F238E27FC236}">
                <a16:creationId xmlns:a16="http://schemas.microsoft.com/office/drawing/2014/main" id="{B7DB23F7-25D8-C2EF-4684-98B8B174D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32804" y="13708043"/>
            <a:ext cx="1427610" cy="1427610"/>
          </a:xfrm>
          <a:prstGeom prst="rect">
            <a:avLst/>
          </a:prstGeom>
        </p:spPr>
      </p:pic>
      <p:pic>
        <p:nvPicPr>
          <p:cNvPr id="24" name="Graphic 23" descr="Cough outline">
            <a:extLst>
              <a:ext uri="{FF2B5EF4-FFF2-40B4-BE49-F238E27FC236}">
                <a16:creationId xmlns:a16="http://schemas.microsoft.com/office/drawing/2014/main" id="{70FD6BBB-638F-93EF-E9FB-C593ED671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011426" y="13708043"/>
            <a:ext cx="1427610" cy="142761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05C4C59-E9AC-B7AF-4B4B-90FCC5E9CCEB}"/>
              </a:ext>
            </a:extLst>
          </p:cNvPr>
          <p:cNvSpPr txBox="1"/>
          <p:nvPr/>
        </p:nvSpPr>
        <p:spPr>
          <a:xfrm>
            <a:off x="2735235" y="15156537"/>
            <a:ext cx="48297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3600" dirty="0"/>
              <a:t>Confusing User</a:t>
            </a:r>
            <a:br>
              <a:rPr lang="en-US" sz="3600" dirty="0"/>
            </a:br>
            <a:r>
              <a:rPr lang="en-US" sz="3600" dirty="0"/>
              <a:t>Interface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D4A242-AAE2-A974-7451-71D38FF07372}"/>
              </a:ext>
            </a:extLst>
          </p:cNvPr>
          <p:cNvSpPr txBox="1"/>
          <p:nvPr/>
        </p:nvSpPr>
        <p:spPr>
          <a:xfrm>
            <a:off x="6901725" y="15198280"/>
            <a:ext cx="4829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3600" dirty="0"/>
              <a:t>Manual Data </a:t>
            </a:r>
            <a:br>
              <a:rPr lang="en-US" sz="3600" dirty="0"/>
            </a:br>
            <a:r>
              <a:rPr lang="en-US" sz="3600" dirty="0"/>
              <a:t>Lookup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623BAD-C7A1-FA8A-C190-8571BE12EEA3}"/>
              </a:ext>
            </a:extLst>
          </p:cNvPr>
          <p:cNvSpPr txBox="1"/>
          <p:nvPr/>
        </p:nvSpPr>
        <p:spPr>
          <a:xfrm>
            <a:off x="12178327" y="15307595"/>
            <a:ext cx="482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3600" dirty="0"/>
              <a:t>Peak Pressure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266279-AFC3-0EC3-B0B0-4D2C7F389912}"/>
              </a:ext>
            </a:extLst>
          </p:cNvPr>
          <p:cNvSpPr txBox="1"/>
          <p:nvPr/>
        </p:nvSpPr>
        <p:spPr>
          <a:xfrm>
            <a:off x="16241354" y="15282657"/>
            <a:ext cx="2967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3600" dirty="0"/>
              <a:t>Risk Of Errors</a:t>
            </a:r>
            <a:br>
              <a:rPr lang="en-US" sz="3600" dirty="0"/>
            </a:br>
            <a:endParaRPr lang="en-US" sz="3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2430E2-D8AF-242B-2917-D084F40BD0E6}"/>
              </a:ext>
            </a:extLst>
          </p:cNvPr>
          <p:cNvCxnSpPr>
            <a:cxnSpLocks/>
          </p:cNvCxnSpPr>
          <p:nvPr/>
        </p:nvCxnSpPr>
        <p:spPr>
          <a:xfrm>
            <a:off x="6362700" y="14443115"/>
            <a:ext cx="17145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9200AA-FFC6-23C4-F242-E80A2941EF29}"/>
              </a:ext>
            </a:extLst>
          </p:cNvPr>
          <p:cNvCxnSpPr>
            <a:cxnSpLocks/>
          </p:cNvCxnSpPr>
          <p:nvPr/>
        </p:nvCxnSpPr>
        <p:spPr>
          <a:xfrm>
            <a:off x="14810717" y="14421848"/>
            <a:ext cx="17145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249FF8-8E1D-0C9E-4EA6-C1C1382B750B}"/>
              </a:ext>
            </a:extLst>
          </p:cNvPr>
          <p:cNvCxnSpPr>
            <a:cxnSpLocks/>
          </p:cNvCxnSpPr>
          <p:nvPr/>
        </p:nvCxnSpPr>
        <p:spPr>
          <a:xfrm>
            <a:off x="10629900" y="14443115"/>
            <a:ext cx="17145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27A98E2-E58B-021F-B969-3D317BD2102D}"/>
              </a:ext>
            </a:extLst>
          </p:cNvPr>
          <p:cNvSpPr txBox="1"/>
          <p:nvPr/>
        </p:nvSpPr>
        <p:spPr>
          <a:xfrm>
            <a:off x="12344400" y="26952228"/>
            <a:ext cx="82227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3600" b="1" dirty="0"/>
              <a:t>Benefits</a:t>
            </a:r>
            <a:r>
              <a:rPr lang="en-US" sz="3600" dirty="0"/>
              <a:t>: No more messy Excel files. Our system makes the kitchen line work faster and lets dietitians manage everything easily from their phones.</a:t>
            </a:r>
          </a:p>
          <a:p>
            <a:pPr algn="l" rtl="0"/>
            <a:endParaRPr lang="en-IL" sz="3600" b="1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D812BD92-0E79-1272-D4A7-E6CC26776969}"/>
              </a:ext>
            </a:extLst>
          </p:cNvPr>
          <p:cNvSpPr/>
          <p:nvPr/>
        </p:nvSpPr>
        <p:spPr>
          <a:xfrm>
            <a:off x="23219356" y="27294316"/>
            <a:ext cx="2777584" cy="1607908"/>
          </a:xfrm>
          <a:custGeom>
            <a:avLst/>
            <a:gdLst>
              <a:gd name="csX0" fmla="*/ 275060 w 2777584"/>
              <a:gd name="csY0" fmla="*/ 0 h 1607908"/>
              <a:gd name="csX1" fmla="*/ 2599218 w 2777584"/>
              <a:gd name="csY1" fmla="*/ 0 h 1607908"/>
              <a:gd name="csX2" fmla="*/ 2612148 w 2777584"/>
              <a:gd name="csY2" fmla="*/ 4014 h 1607908"/>
              <a:gd name="csX3" fmla="*/ 2777584 w 2777584"/>
              <a:gd name="csY3" fmla="*/ 253598 h 1607908"/>
              <a:gd name="csX4" fmla="*/ 2777584 w 2777584"/>
              <a:gd name="csY4" fmla="*/ 1337040 h 1607908"/>
              <a:gd name="csX5" fmla="*/ 2506714 w 2777584"/>
              <a:gd name="csY5" fmla="*/ 1607908 h 1607908"/>
              <a:gd name="csX6" fmla="*/ 222236 w 2777584"/>
              <a:gd name="csY6" fmla="*/ 1607908 h 1607908"/>
              <a:gd name="csX7" fmla="*/ 116802 w 2777584"/>
              <a:gd name="csY7" fmla="*/ 1586622 h 1607908"/>
              <a:gd name="csX8" fmla="*/ 76344 w 2777584"/>
              <a:gd name="csY8" fmla="*/ 1564662 h 1607908"/>
              <a:gd name="csX9" fmla="*/ 46976 w 2777584"/>
              <a:gd name="csY9" fmla="*/ 1529068 h 1607908"/>
              <a:gd name="csX10" fmla="*/ 0 w 2777584"/>
              <a:gd name="csY10" fmla="*/ 1375276 h 1607908"/>
              <a:gd name="csX11" fmla="*/ 0 w 2777584"/>
              <a:gd name="csY11" fmla="*/ 275064 h 1607908"/>
              <a:gd name="csX12" fmla="*/ 275060 w 2777584"/>
              <a:gd name="csY12" fmla="*/ 0 h 160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777584" h="1607908">
                <a:moveTo>
                  <a:pt x="275060" y="0"/>
                </a:moveTo>
                <a:lnTo>
                  <a:pt x="2599218" y="0"/>
                </a:lnTo>
                <a:lnTo>
                  <a:pt x="2612148" y="4014"/>
                </a:lnTo>
                <a:cubicBezTo>
                  <a:pt x="2709368" y="45134"/>
                  <a:pt x="2777584" y="141400"/>
                  <a:pt x="2777584" y="253598"/>
                </a:cubicBezTo>
                <a:lnTo>
                  <a:pt x="2777584" y="1337040"/>
                </a:lnTo>
                <a:cubicBezTo>
                  <a:pt x="2777584" y="1486636"/>
                  <a:pt x="2656312" y="1607908"/>
                  <a:pt x="2506714" y="1607908"/>
                </a:cubicBezTo>
                <a:lnTo>
                  <a:pt x="222236" y="1607908"/>
                </a:lnTo>
                <a:cubicBezTo>
                  <a:pt x="184836" y="1607908"/>
                  <a:pt x="149208" y="1600328"/>
                  <a:pt x="116802" y="1586622"/>
                </a:cubicBezTo>
                <a:lnTo>
                  <a:pt x="76344" y="1564662"/>
                </a:lnTo>
                <a:lnTo>
                  <a:pt x="46976" y="1529068"/>
                </a:lnTo>
                <a:cubicBezTo>
                  <a:pt x="17318" y="1485166"/>
                  <a:pt x="0" y="1432244"/>
                  <a:pt x="0" y="1375276"/>
                </a:cubicBezTo>
                <a:lnTo>
                  <a:pt x="0" y="275064"/>
                </a:lnTo>
                <a:cubicBezTo>
                  <a:pt x="0" y="123150"/>
                  <a:pt x="123148" y="0"/>
                  <a:pt x="275060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149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L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FFCE4FD-CE9B-5F0D-98A7-6EEDB7020A4E}"/>
              </a:ext>
            </a:extLst>
          </p:cNvPr>
          <p:cNvSpPr/>
          <p:nvPr/>
        </p:nvSpPr>
        <p:spPr>
          <a:xfrm>
            <a:off x="23170724" y="27277044"/>
            <a:ext cx="2647850" cy="1581934"/>
          </a:xfrm>
          <a:custGeom>
            <a:avLst/>
            <a:gdLst>
              <a:gd name="csX0" fmla="*/ 270868 w 2647850"/>
              <a:gd name="csY0" fmla="*/ 0 h 1581934"/>
              <a:gd name="csX1" fmla="*/ 2555346 w 2647850"/>
              <a:gd name="csY1" fmla="*/ 0 h 1581934"/>
              <a:gd name="csX2" fmla="*/ 2609936 w 2647850"/>
              <a:gd name="csY2" fmla="*/ 5504 h 1581934"/>
              <a:gd name="csX3" fmla="*/ 2647850 w 2647850"/>
              <a:gd name="csY3" fmla="*/ 17272 h 1581934"/>
              <a:gd name="csX4" fmla="*/ 323692 w 2647850"/>
              <a:gd name="csY4" fmla="*/ 17272 h 1581934"/>
              <a:gd name="csX5" fmla="*/ 48632 w 2647850"/>
              <a:gd name="csY5" fmla="*/ 292336 h 1581934"/>
              <a:gd name="csX6" fmla="*/ 48632 w 2647850"/>
              <a:gd name="csY6" fmla="*/ 1392548 h 1581934"/>
              <a:gd name="csX7" fmla="*/ 95608 w 2647850"/>
              <a:gd name="csY7" fmla="*/ 1546340 h 1581934"/>
              <a:gd name="csX8" fmla="*/ 124976 w 2647850"/>
              <a:gd name="csY8" fmla="*/ 1581934 h 1581934"/>
              <a:gd name="csX9" fmla="*/ 119424 w 2647850"/>
              <a:gd name="csY9" fmla="*/ 1578920 h 1581934"/>
              <a:gd name="csX10" fmla="*/ 0 w 2647850"/>
              <a:gd name="csY10" fmla="*/ 1354312 h 1581934"/>
              <a:gd name="csX11" fmla="*/ 0 w 2647850"/>
              <a:gd name="csY11" fmla="*/ 270870 h 1581934"/>
              <a:gd name="csX12" fmla="*/ 270868 w 2647850"/>
              <a:gd name="csY12" fmla="*/ 0 h 1581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47850" h="1581934">
                <a:moveTo>
                  <a:pt x="270868" y="0"/>
                </a:moveTo>
                <a:lnTo>
                  <a:pt x="2555346" y="0"/>
                </a:lnTo>
                <a:cubicBezTo>
                  <a:pt x="2574046" y="0"/>
                  <a:pt x="2592302" y="1894"/>
                  <a:pt x="2609936" y="5504"/>
                </a:cubicBezTo>
                <a:lnTo>
                  <a:pt x="2647850" y="17272"/>
                </a:lnTo>
                <a:lnTo>
                  <a:pt x="323692" y="17272"/>
                </a:lnTo>
                <a:cubicBezTo>
                  <a:pt x="171780" y="17272"/>
                  <a:pt x="48632" y="140422"/>
                  <a:pt x="48632" y="292336"/>
                </a:cubicBezTo>
                <a:lnTo>
                  <a:pt x="48632" y="1392548"/>
                </a:lnTo>
                <a:cubicBezTo>
                  <a:pt x="48632" y="1449516"/>
                  <a:pt x="65950" y="1502438"/>
                  <a:pt x="95608" y="1546340"/>
                </a:cubicBezTo>
                <a:lnTo>
                  <a:pt x="124976" y="1581934"/>
                </a:lnTo>
                <a:lnTo>
                  <a:pt x="119424" y="1578920"/>
                </a:lnTo>
                <a:cubicBezTo>
                  <a:pt x="47372" y="1530242"/>
                  <a:pt x="0" y="1447810"/>
                  <a:pt x="0" y="1354312"/>
                </a:cubicBezTo>
                <a:lnTo>
                  <a:pt x="0" y="270870"/>
                </a:lnTo>
                <a:cubicBezTo>
                  <a:pt x="0" y="121272"/>
                  <a:pt x="121272" y="0"/>
                  <a:pt x="270868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rgbClr val="149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L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F5BDF08-B1AE-A6E8-E60D-8AFF9433B776}"/>
              </a:ext>
            </a:extLst>
          </p:cNvPr>
          <p:cNvSpPr/>
          <p:nvPr/>
        </p:nvSpPr>
        <p:spPr>
          <a:xfrm>
            <a:off x="23295700" y="27294316"/>
            <a:ext cx="14487592" cy="1650340"/>
          </a:xfrm>
          <a:custGeom>
            <a:avLst/>
            <a:gdLst>
              <a:gd name="csX0" fmla="*/ 2522874 w 14487592"/>
              <a:gd name="csY0" fmla="*/ 0 h 1650340"/>
              <a:gd name="csX1" fmla="*/ 14212532 w 14487592"/>
              <a:gd name="csY1" fmla="*/ 0 h 1650340"/>
              <a:gd name="csX2" fmla="*/ 14487592 w 14487592"/>
              <a:gd name="csY2" fmla="*/ 275064 h 1650340"/>
              <a:gd name="csX3" fmla="*/ 14487592 w 14487592"/>
              <a:gd name="csY3" fmla="*/ 1375276 h 1650340"/>
              <a:gd name="csX4" fmla="*/ 14212532 w 14487592"/>
              <a:gd name="csY4" fmla="*/ 1650340 h 1650340"/>
              <a:gd name="csX5" fmla="*/ 198716 w 14487592"/>
              <a:gd name="csY5" fmla="*/ 1650340 h 1650340"/>
              <a:gd name="csX6" fmla="*/ 4220 w 14487592"/>
              <a:gd name="csY6" fmla="*/ 1569776 h 1650340"/>
              <a:gd name="csX7" fmla="*/ 0 w 14487592"/>
              <a:gd name="csY7" fmla="*/ 1564662 h 1650340"/>
              <a:gd name="csX8" fmla="*/ 40458 w 14487592"/>
              <a:gd name="csY8" fmla="*/ 1586622 h 1650340"/>
              <a:gd name="csX9" fmla="*/ 145892 w 14487592"/>
              <a:gd name="csY9" fmla="*/ 1607908 h 1650340"/>
              <a:gd name="csX10" fmla="*/ 2430370 w 14487592"/>
              <a:gd name="csY10" fmla="*/ 1607908 h 1650340"/>
              <a:gd name="csX11" fmla="*/ 2701240 w 14487592"/>
              <a:gd name="csY11" fmla="*/ 1337040 h 1650340"/>
              <a:gd name="csX12" fmla="*/ 2701240 w 14487592"/>
              <a:gd name="csY12" fmla="*/ 253598 h 1650340"/>
              <a:gd name="csX13" fmla="*/ 2535804 w 14487592"/>
              <a:gd name="csY13" fmla="*/ 4014 h 1650340"/>
              <a:gd name="csX14" fmla="*/ 2522874 w 14487592"/>
              <a:gd name="csY14" fmla="*/ 0 h 16503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4487592" h="1650340">
                <a:moveTo>
                  <a:pt x="2522874" y="0"/>
                </a:moveTo>
                <a:lnTo>
                  <a:pt x="14212532" y="0"/>
                </a:lnTo>
                <a:cubicBezTo>
                  <a:pt x="14364444" y="0"/>
                  <a:pt x="14487592" y="123150"/>
                  <a:pt x="14487592" y="275064"/>
                </a:cubicBezTo>
                <a:lnTo>
                  <a:pt x="14487592" y="1375276"/>
                </a:lnTo>
                <a:cubicBezTo>
                  <a:pt x="14487592" y="1527190"/>
                  <a:pt x="14364444" y="1650340"/>
                  <a:pt x="14212532" y="1650340"/>
                </a:cubicBezTo>
                <a:lnTo>
                  <a:pt x="198716" y="1650340"/>
                </a:lnTo>
                <a:cubicBezTo>
                  <a:pt x="122760" y="1650340"/>
                  <a:pt x="53996" y="1619552"/>
                  <a:pt x="4220" y="1569776"/>
                </a:cubicBezTo>
                <a:lnTo>
                  <a:pt x="0" y="1564662"/>
                </a:lnTo>
                <a:lnTo>
                  <a:pt x="40458" y="1586622"/>
                </a:lnTo>
                <a:cubicBezTo>
                  <a:pt x="72864" y="1600328"/>
                  <a:pt x="108492" y="1607908"/>
                  <a:pt x="145892" y="1607908"/>
                </a:cubicBezTo>
                <a:lnTo>
                  <a:pt x="2430370" y="1607908"/>
                </a:lnTo>
                <a:cubicBezTo>
                  <a:pt x="2579968" y="1607908"/>
                  <a:pt x="2701240" y="1486636"/>
                  <a:pt x="2701240" y="1337040"/>
                </a:cubicBezTo>
                <a:lnTo>
                  <a:pt x="2701240" y="253598"/>
                </a:lnTo>
                <a:cubicBezTo>
                  <a:pt x="2701240" y="141400"/>
                  <a:pt x="2633024" y="45134"/>
                  <a:pt x="2535804" y="4014"/>
                </a:cubicBezTo>
                <a:lnTo>
                  <a:pt x="2522874" y="0"/>
                </a:lnTo>
                <a:close/>
              </a:path>
            </a:pathLst>
          </a:custGeom>
          <a:solidFill>
            <a:schemeClr val="bg1"/>
          </a:solidFill>
          <a:ln w="76200">
            <a:solidFill>
              <a:srgbClr val="1496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L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2FB679-7E8B-4324-5C9F-0C4625D1067C}"/>
              </a:ext>
            </a:extLst>
          </p:cNvPr>
          <p:cNvSpPr txBox="1"/>
          <p:nvPr/>
        </p:nvSpPr>
        <p:spPr>
          <a:xfrm>
            <a:off x="22628598" y="27702949"/>
            <a:ext cx="264785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rgbClr val="14967D"/>
                </a:solidFill>
              </a:rPr>
              <a:t>Client</a:t>
            </a:r>
            <a:endParaRPr lang="en-IL" sz="4500" b="1" dirty="0">
              <a:solidFill>
                <a:srgbClr val="14967D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54F6D3-0CCA-5049-9665-F38D8B87D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839724" y="4823507"/>
            <a:ext cx="15911925" cy="1139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phic 16" descr="Filter outline">
            <a:extLst>
              <a:ext uri="{FF2B5EF4-FFF2-40B4-BE49-F238E27FC236}">
                <a16:creationId xmlns:a16="http://schemas.microsoft.com/office/drawing/2014/main" id="{A3B7034B-0043-7617-4E5C-6A837A255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530231" y="18003243"/>
            <a:ext cx="2155829" cy="2155829"/>
          </a:xfrm>
          <a:prstGeom prst="rect">
            <a:avLst/>
          </a:prstGeom>
        </p:spPr>
      </p:pic>
      <p:pic>
        <p:nvPicPr>
          <p:cNvPr id="29" name="Graphic 28" descr="Ui Ux with solid fill">
            <a:extLst>
              <a:ext uri="{FF2B5EF4-FFF2-40B4-BE49-F238E27FC236}">
                <a16:creationId xmlns:a16="http://schemas.microsoft.com/office/drawing/2014/main" id="{62B79745-7591-2847-E491-8E4D5BE65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611783" y="17951648"/>
            <a:ext cx="2254008" cy="2254008"/>
          </a:xfrm>
          <a:prstGeom prst="rect">
            <a:avLst/>
          </a:prstGeom>
        </p:spPr>
      </p:pic>
      <p:pic>
        <p:nvPicPr>
          <p:cNvPr id="36" name="Graphic 35" descr="First aid kit outline">
            <a:extLst>
              <a:ext uri="{FF2B5EF4-FFF2-40B4-BE49-F238E27FC236}">
                <a16:creationId xmlns:a16="http://schemas.microsoft.com/office/drawing/2014/main" id="{E176151F-D397-6C72-011A-96BA852DFF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339243" y="22420520"/>
            <a:ext cx="2378917" cy="2378917"/>
          </a:xfrm>
          <a:prstGeom prst="rect">
            <a:avLst/>
          </a:prstGeom>
        </p:spPr>
      </p:pic>
      <p:pic>
        <p:nvPicPr>
          <p:cNvPr id="45" name="Graphic 44" descr="Smart Phone outline">
            <a:extLst>
              <a:ext uri="{FF2B5EF4-FFF2-40B4-BE49-F238E27FC236}">
                <a16:creationId xmlns:a16="http://schemas.microsoft.com/office/drawing/2014/main" id="{64E95D3D-15BC-EE61-BA02-6EAFC2B1E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745531" y="22829129"/>
            <a:ext cx="1831207" cy="183120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93B5640-49C3-564E-89BA-7FE24278FA0D}"/>
              </a:ext>
            </a:extLst>
          </p:cNvPr>
          <p:cNvSpPr txBox="1"/>
          <p:nvPr/>
        </p:nvSpPr>
        <p:spPr>
          <a:xfrm>
            <a:off x="21655053" y="20307488"/>
            <a:ext cx="5906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Building a fast allergy filtering system assisted by ML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D11EF5-3621-0035-916E-DF86E39EC892}"/>
              </a:ext>
            </a:extLst>
          </p:cNvPr>
          <p:cNvSpPr txBox="1"/>
          <p:nvPr/>
        </p:nvSpPr>
        <p:spPr>
          <a:xfrm>
            <a:off x="28354685" y="20307488"/>
            <a:ext cx="4612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Preventing food and </a:t>
            </a:r>
            <a:br>
              <a:rPr lang="en-US" sz="3600" dirty="0"/>
            </a:br>
            <a:r>
              <a:rPr lang="en-US" sz="3600" dirty="0"/>
              <a:t>allergen data errors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1867AB-5F67-EB39-A0A1-13CFD5FF7AEF}"/>
              </a:ext>
            </a:extLst>
          </p:cNvPr>
          <p:cNvSpPr txBox="1"/>
          <p:nvPr/>
        </p:nvSpPr>
        <p:spPr>
          <a:xfrm>
            <a:off x="33654405" y="20307488"/>
            <a:ext cx="6078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Keeping the interface simple</a:t>
            </a:r>
            <a:br>
              <a:rPr lang="en-US" sz="3600" dirty="0"/>
            </a:br>
            <a:r>
              <a:rPr lang="en-US" sz="3600" dirty="0"/>
              <a:t>during busy work hours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B0FB21-CB33-EC35-E52A-9C1222BA8FCF}"/>
              </a:ext>
            </a:extLst>
          </p:cNvPr>
          <p:cNvSpPr txBox="1"/>
          <p:nvPr/>
        </p:nvSpPr>
        <p:spPr>
          <a:xfrm>
            <a:off x="21700042" y="24767350"/>
            <a:ext cx="5767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Implementing web systems with hospital regulations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FBA64B-668D-9101-90F8-FC37189BDCB3}"/>
              </a:ext>
            </a:extLst>
          </p:cNvPr>
          <p:cNvSpPr txBox="1"/>
          <p:nvPr/>
        </p:nvSpPr>
        <p:spPr>
          <a:xfrm>
            <a:off x="33765554" y="24813517"/>
            <a:ext cx="60789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Streamlining complex nutritional data maintenance</a:t>
            </a:r>
          </a:p>
          <a:p>
            <a:pPr algn="ctr"/>
            <a:br>
              <a:rPr lang="en-US" sz="3600" dirty="0"/>
            </a:br>
            <a:endParaRPr lang="en-US" sz="3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292B81-C118-7D70-8808-EC5F90476513}"/>
              </a:ext>
            </a:extLst>
          </p:cNvPr>
          <p:cNvSpPr txBox="1"/>
          <p:nvPr/>
        </p:nvSpPr>
        <p:spPr>
          <a:xfrm>
            <a:off x="27911897" y="24767350"/>
            <a:ext cx="5767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Optimizing the system for easy mobile use</a:t>
            </a:r>
          </a:p>
        </p:txBody>
      </p:sp>
      <p:pic>
        <p:nvPicPr>
          <p:cNvPr id="3" name="Graphic 2" descr="Close with solid fill">
            <a:extLst>
              <a:ext uri="{FF2B5EF4-FFF2-40B4-BE49-F238E27FC236}">
                <a16:creationId xmlns:a16="http://schemas.microsoft.com/office/drawing/2014/main" id="{60F9CDAD-B614-F676-047F-3AA2F0248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643612" y="18213971"/>
            <a:ext cx="2035047" cy="2035047"/>
          </a:xfrm>
          <a:prstGeom prst="rect">
            <a:avLst/>
          </a:prstGeom>
        </p:spPr>
      </p:pic>
      <p:pic>
        <p:nvPicPr>
          <p:cNvPr id="10" name="Graphic 9" descr="Tools outline">
            <a:extLst>
              <a:ext uri="{FF2B5EF4-FFF2-40B4-BE49-F238E27FC236}">
                <a16:creationId xmlns:a16="http://schemas.microsoft.com/office/drawing/2014/main" id="{70005FD5-D6C6-2C09-70EA-D153C23D1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665544" y="22603649"/>
            <a:ext cx="2056687" cy="2056687"/>
          </a:xfrm>
          <a:prstGeom prst="rect">
            <a:avLst/>
          </a:prstGeom>
        </p:spPr>
      </p:pic>
      <p:sp>
        <p:nvSpPr>
          <p:cNvPr id="1126" name="AICurve_0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1890200" y="3245780"/>
                  <a:pt x="3980803" y="5546662"/>
                  <a:pt x="2540000" y="63627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 dirty="0"/>
          </a:p>
        </p:txBody>
      </p:sp>
      <p:sp>
        <p:nvSpPr>
          <p:cNvPr id="1128" name="AICurve_1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1687343" y="3303711"/>
                  <a:pt x="3368088" y="4575162"/>
                  <a:pt x="2540000" y="53594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0" name="AICurve_2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4266400" y="3215011"/>
                  <a:pt x="2543814" y="5559016"/>
                  <a:pt x="3911600" y="63627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2" name="AICurve_3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2646739" y="4168753"/>
                  <a:pt x="5373553" y="2672107"/>
                  <a:pt x="5334000" y="45085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4" name="AICurve_4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824048" y="4309922"/>
                  <a:pt x="2936302" y="2947666"/>
                  <a:pt x="2540000" y="48260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6" name="AICurve_5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535212" y="3923094"/>
                  <a:pt x="4373836" y="1386487"/>
                  <a:pt x="5384800" y="25400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138" name="AICurve_6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5083377" y="4124440"/>
                  <a:pt x="3200793" y="1828465"/>
                  <a:pt x="2540000" y="3289300"/>
                </a:cubicBezTo>
              </a:path>
            </a:pathLst>
          </a:custGeom>
          <a:noFill/>
          <a:ln w="139700" cap="rnd">
            <a:solidFill>
              <a:srgbClr val="3FE0CC"/>
            </a:solidFill>
            <a:round/>
          </a:ln>
          <a:effectLst>
            <a:glow rad="444500">
              <a:srgbClr val="3FE0CC">
                <a:alpha val="80000"/>
              </a:srgbClr>
            </a:glow>
          </a:effectLst>
        </p:spPr>
        <p:txBody>
          <a:bodyPr/>
          <a:lstStyle/>
          <a:p>
            <a:endParaRPr/>
          </a:p>
        </p:txBody>
      </p:sp>
      <p:sp>
        <p:nvSpPr>
          <p:cNvPr id="1351" name="AISketch_0_C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1629950" y="3667752"/>
                  <a:pt x="3876355" y="5014433"/>
                  <a:pt x="2540000" y="63627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2" name="AISketch_1_C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1533327" y="3631775"/>
                  <a:pt x="3142350" y="4216306"/>
                  <a:pt x="2540000" y="53594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3" name="AISketch_2_C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4311454" y="3716626"/>
                  <a:pt x="2140146" y="5186074"/>
                  <a:pt x="3911600" y="63627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4" name="AISketch_3_C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2908873" y="4508793"/>
                  <a:pt x="4891981" y="2643527"/>
                  <a:pt x="5334000" y="45085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5" name="AISketch_4_C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308318" y="4475830"/>
                  <a:pt x="3253582" y="2456522"/>
                  <a:pt x="2540000" y="48260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6" name="AISketch_5_C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892340" y="4006441"/>
                  <a:pt x="4063965" y="1681198"/>
                  <a:pt x="5384800" y="25400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357" name="AISketch_6_C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4673207" y="4090751"/>
                  <a:pt x="3523452" y="1491340"/>
                  <a:pt x="2540000" y="3289300"/>
                </a:cubicBezTo>
              </a:path>
            </a:pathLst>
          </a:custGeom>
          <a:noFill/>
          <a:ln w="88900" cap="rnd">
            <a:solidFill>
              <a:srgbClr val="E8FBF6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57" name="AISketch_0_D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2049435" y="3377363"/>
                  <a:pt x="3639219" y="5359951"/>
                  <a:pt x="2540000" y="63627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58" name="AISketch_1_D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1872648" y="3375495"/>
                  <a:pt x="2992906" y="4487983"/>
                  <a:pt x="2540000" y="53594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59" name="AISketch_2_D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4473139" y="3227129"/>
                  <a:pt x="2157768" y="5611235"/>
                  <a:pt x="3911600" y="63627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60" name="AISketch_3_D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2812338" y="4052392"/>
                  <a:pt x="5098235" y="2944198"/>
                  <a:pt x="5334000" y="45085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61" name="AISketch_4_D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848343" y="4518260"/>
                  <a:pt x="2812783" y="2576709"/>
                  <a:pt x="2540000" y="48260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62" name="AISketch_5_D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568479" y="3726953"/>
                  <a:pt x="4364197" y="1771657"/>
                  <a:pt x="5384800" y="25400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463" name="AISketch_6_D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5063633" y="4324832"/>
                  <a:pt x="3176781" y="1442665"/>
                  <a:pt x="2540000" y="3289300"/>
                </a:cubicBezTo>
              </a:path>
            </a:pathLst>
          </a:custGeom>
          <a:noFill/>
          <a:ln w="15875" cap="rnd">
            <a:solidFill>
              <a:srgbClr val="39FF14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38" name="AISketch_0_A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1427050" y="3022317"/>
                  <a:pt x="4261603" y="5714997"/>
                  <a:pt x="2540000" y="63627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39" name="AISketch_0_B"/>
          <p:cNvSpPr/>
          <p:nvPr/>
        </p:nvSpPr>
        <p:spPr>
          <a:xfrm>
            <a:off x="12407900" y="16967200"/>
            <a:ext cx="6235700" cy="8902700"/>
          </a:xfrm>
          <a:custGeom>
            <a:avLst/>
            <a:gdLst/>
            <a:ahLst/>
            <a:cxnLst/>
            <a:rect l="0" t="0" r="0" b="0"/>
            <a:pathLst>
              <a:path w="6235700" h="8902700">
                <a:moveTo>
                  <a:pt x="3695700" y="2540000"/>
                </a:moveTo>
                <a:cubicBezTo>
                  <a:pt x="2197112" y="3547173"/>
                  <a:pt x="3491541" y="5190141"/>
                  <a:pt x="2540000" y="63627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0" name="AISketch_1_A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1185577" y="3206269"/>
                  <a:pt x="3679977" y="4657209"/>
                  <a:pt x="2540000" y="53594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1" name="AISketch_1_B"/>
          <p:cNvSpPr/>
          <p:nvPr/>
        </p:nvSpPr>
        <p:spPr>
          <a:xfrm>
            <a:off x="8521700" y="17208500"/>
            <a:ext cx="5308600" cy="7899400"/>
          </a:xfrm>
          <a:custGeom>
            <a:avLst/>
            <a:gdLst/>
            <a:ahLst/>
            <a:cxnLst/>
            <a:rect l="0" t="0" r="0" b="0"/>
            <a:pathLst>
              <a:path w="5308600" h="7899400">
                <a:moveTo>
                  <a:pt x="2768600" y="2540000"/>
                </a:moveTo>
                <a:cubicBezTo>
                  <a:pt x="2055667" y="3475472"/>
                  <a:pt x="2809887" y="4388005"/>
                  <a:pt x="2540000" y="53594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2" name="AISketch_2_A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3760815" y="3310121"/>
                  <a:pt x="2870092" y="5528243"/>
                  <a:pt x="3911600" y="63627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3" name="AISketch_2_B"/>
          <p:cNvSpPr/>
          <p:nvPr/>
        </p:nvSpPr>
        <p:spPr>
          <a:xfrm>
            <a:off x="3276600" y="16967200"/>
            <a:ext cx="6451600" cy="8902700"/>
          </a:xfrm>
          <a:custGeom>
            <a:avLst/>
            <a:gdLst/>
            <a:ahLst/>
            <a:cxnLst/>
            <a:rect l="0" t="0" r="0" b="0"/>
            <a:pathLst>
              <a:path w="6451600" h="8902700">
                <a:moveTo>
                  <a:pt x="2540000" y="2540000"/>
                </a:moveTo>
                <a:cubicBezTo>
                  <a:pt x="4693595" y="3277474"/>
                  <a:pt x="1937313" y="5560890"/>
                  <a:pt x="3911600" y="63627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4" name="AISketch_3_A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2298275" y="4544664"/>
                  <a:pt x="5612298" y="2451926"/>
                  <a:pt x="5334000" y="45085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5" name="AISketch_3_B"/>
          <p:cNvSpPr/>
          <p:nvPr/>
        </p:nvSpPr>
        <p:spPr>
          <a:xfrm>
            <a:off x="1854200" y="20129500"/>
            <a:ext cx="7874000" cy="7048500"/>
          </a:xfrm>
          <a:custGeom>
            <a:avLst/>
            <a:gdLst/>
            <a:ahLst/>
            <a:cxnLst/>
            <a:rect l="0" t="0" r="0" b="0"/>
            <a:pathLst>
              <a:path w="7874000" h="7048500">
                <a:moveTo>
                  <a:pt x="2540000" y="2540000"/>
                </a:moveTo>
                <a:cubicBezTo>
                  <a:pt x="3005877" y="3955717"/>
                  <a:pt x="4904696" y="3040873"/>
                  <a:pt x="5334000" y="45085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6" name="AISketch_4_A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634379" y="3830553"/>
                  <a:pt x="3026747" y="3264416"/>
                  <a:pt x="2540000" y="48260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7" name="AISketch_4_B"/>
          <p:cNvSpPr/>
          <p:nvPr/>
        </p:nvSpPr>
        <p:spPr>
          <a:xfrm>
            <a:off x="12407900" y="19812000"/>
            <a:ext cx="8826500" cy="7366000"/>
          </a:xfrm>
          <a:custGeom>
            <a:avLst/>
            <a:gdLst/>
            <a:ahLst/>
            <a:cxnLst/>
            <a:rect l="0" t="0" r="0" b="0"/>
            <a:pathLst>
              <a:path w="8826500" h="7366000">
                <a:moveTo>
                  <a:pt x="6286500" y="2540000"/>
                </a:moveTo>
                <a:cubicBezTo>
                  <a:pt x="5835173" y="4749458"/>
                  <a:pt x="2825953" y="2345511"/>
                  <a:pt x="2540000" y="48260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8" name="AISketch_5_A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541325" y="4434283"/>
                  <a:pt x="4391351" y="1064327"/>
                  <a:pt x="5384800" y="25400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49" name="AISketch_5_B"/>
          <p:cNvSpPr/>
          <p:nvPr/>
        </p:nvSpPr>
        <p:spPr>
          <a:xfrm>
            <a:off x="1803400" y="23647400"/>
            <a:ext cx="7924800" cy="5435600"/>
          </a:xfrm>
          <a:custGeom>
            <a:avLst/>
            <a:gdLst/>
            <a:ahLst/>
            <a:cxnLst/>
            <a:rect l="0" t="0" r="0" b="0"/>
            <a:pathLst>
              <a:path w="7924800" h="5435600">
                <a:moveTo>
                  <a:pt x="2540000" y="2895600"/>
                </a:moveTo>
                <a:cubicBezTo>
                  <a:pt x="3630194" y="3527256"/>
                  <a:pt x="4302482" y="1971354"/>
                  <a:pt x="5384800" y="25400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50" name="AISketch_6_A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5030195" y="3615036"/>
                  <a:pt x="3210220" y="2152462"/>
                  <a:pt x="2540000" y="3289300"/>
                </a:cubicBezTo>
              </a:path>
            </a:pathLst>
          </a:custGeom>
          <a:noFill/>
          <a:ln w="508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251" name="AISketch_6_B"/>
          <p:cNvSpPr/>
          <p:nvPr/>
        </p:nvSpPr>
        <p:spPr>
          <a:xfrm>
            <a:off x="12407900" y="22898100"/>
            <a:ext cx="8255000" cy="5829300"/>
          </a:xfrm>
          <a:custGeom>
            <a:avLst/>
            <a:gdLst/>
            <a:ahLst/>
            <a:cxnLst/>
            <a:rect l="0" t="0" r="0" b="0"/>
            <a:pathLst>
              <a:path w="8255000" h="5829300">
                <a:moveTo>
                  <a:pt x="5715000" y="2540000"/>
                </a:moveTo>
                <a:cubicBezTo>
                  <a:pt x="5012139" y="4532718"/>
                  <a:pt x="3228275" y="1234780"/>
                  <a:pt x="2540000" y="3289300"/>
                </a:cubicBezTo>
              </a:path>
            </a:pathLst>
          </a:custGeom>
          <a:noFill/>
          <a:ln w="38100" cap="rnd">
            <a:solidFill>
              <a:srgbClr val="0F1F1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2" name="GreenHex_19">
            <a:extLst>
              <a:ext uri="{FF2B5EF4-FFF2-40B4-BE49-F238E27FC236}">
                <a16:creationId xmlns:a16="http://schemas.microsoft.com/office/drawing/2014/main" id="{B1C8770D-425E-3B43-B26A-ADB42F5A2EB0}"/>
              </a:ext>
            </a:extLst>
          </p:cNvPr>
          <p:cNvSpPr/>
          <p:nvPr/>
        </p:nvSpPr>
        <p:spPr>
          <a:xfrm>
            <a:off x="14583348" y="18236978"/>
            <a:ext cx="3048000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9" name="GreenHex_23">
            <a:extLst>
              <a:ext uri="{FF2B5EF4-FFF2-40B4-BE49-F238E27FC236}">
                <a16:creationId xmlns:a16="http://schemas.microsoft.com/office/drawing/2014/main" id="{0E0FECEF-BBE7-514F-864A-5251A341E723}"/>
              </a:ext>
            </a:extLst>
          </p:cNvPr>
          <p:cNvSpPr/>
          <p:nvPr/>
        </p:nvSpPr>
        <p:spPr>
          <a:xfrm>
            <a:off x="2875930" y="21399500"/>
            <a:ext cx="3048000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13" name="GreenHex_31">
            <a:extLst>
              <a:ext uri="{FF2B5EF4-FFF2-40B4-BE49-F238E27FC236}">
                <a16:creationId xmlns:a16="http://schemas.microsoft.com/office/drawing/2014/main" id="{7B4A317D-F086-EC45-A726-40485D390250}"/>
              </a:ext>
            </a:extLst>
          </p:cNvPr>
          <p:cNvSpPr/>
          <p:nvPr/>
        </p:nvSpPr>
        <p:spPr>
          <a:xfrm>
            <a:off x="16890999" y="21082000"/>
            <a:ext cx="3595541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22" name="GreenHex_32">
            <a:extLst>
              <a:ext uri="{FF2B5EF4-FFF2-40B4-BE49-F238E27FC236}">
                <a16:creationId xmlns:a16="http://schemas.microsoft.com/office/drawing/2014/main" id="{EF4541EC-35B1-1D41-8405-888FFDE21726}"/>
              </a:ext>
            </a:extLst>
          </p:cNvPr>
          <p:cNvSpPr/>
          <p:nvPr/>
        </p:nvSpPr>
        <p:spPr>
          <a:xfrm>
            <a:off x="4150839" y="18236978"/>
            <a:ext cx="3332448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40" name="GreenHex_35">
            <a:extLst>
              <a:ext uri="{FF2B5EF4-FFF2-40B4-BE49-F238E27FC236}">
                <a16:creationId xmlns:a16="http://schemas.microsoft.com/office/drawing/2014/main" id="{6AB712DB-521C-7541-9470-A741C9293E13}"/>
              </a:ext>
            </a:extLst>
          </p:cNvPr>
          <p:cNvSpPr/>
          <p:nvPr/>
        </p:nvSpPr>
        <p:spPr>
          <a:xfrm>
            <a:off x="2817660" y="25273000"/>
            <a:ext cx="3048000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L"/>
          </a:p>
        </p:txBody>
      </p:sp>
      <p:sp>
        <p:nvSpPr>
          <p:cNvPr id="65" name="GreenHex_37">
            <a:extLst>
              <a:ext uri="{FF2B5EF4-FFF2-40B4-BE49-F238E27FC236}">
                <a16:creationId xmlns:a16="http://schemas.microsoft.com/office/drawing/2014/main" id="{6BA2F905-0095-C244-A038-FFDAFA77414C}"/>
              </a:ext>
            </a:extLst>
          </p:cNvPr>
          <p:cNvSpPr/>
          <p:nvPr/>
        </p:nvSpPr>
        <p:spPr>
          <a:xfrm>
            <a:off x="16594717" y="24165686"/>
            <a:ext cx="3048000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BC36FF-4924-269F-FA4D-0671DF140945}"/>
              </a:ext>
            </a:extLst>
          </p:cNvPr>
          <p:cNvSpPr txBox="1"/>
          <p:nvPr/>
        </p:nvSpPr>
        <p:spPr>
          <a:xfrm>
            <a:off x="14787800" y="18425965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Intuitive UI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for Line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Workers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94D5FF-2898-0BC7-4E4A-FFEE2C503411}"/>
              </a:ext>
            </a:extLst>
          </p:cNvPr>
          <p:cNvSpPr txBox="1"/>
          <p:nvPr/>
        </p:nvSpPr>
        <p:spPr>
          <a:xfrm>
            <a:off x="3002930" y="21526500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Z-Score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Anomaly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13E867-7213-B9C1-383F-19AFF394ACA0}"/>
              </a:ext>
            </a:extLst>
          </p:cNvPr>
          <p:cNvSpPr txBox="1"/>
          <p:nvPr/>
        </p:nvSpPr>
        <p:spPr>
          <a:xfrm>
            <a:off x="15736999" y="21277520"/>
            <a:ext cx="5906182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Allergy &amp;Texture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Filters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695918-C317-6E3D-F6A9-EA2AA677AE74}"/>
              </a:ext>
            </a:extLst>
          </p:cNvPr>
          <p:cNvSpPr txBox="1"/>
          <p:nvPr/>
        </p:nvSpPr>
        <p:spPr>
          <a:xfrm>
            <a:off x="4420063" y="18236978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Natural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Language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Search (NLP)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136107-CF39-4013-2B24-B3FC111D3E1C}"/>
              </a:ext>
            </a:extLst>
          </p:cNvPr>
          <p:cNvSpPr txBox="1"/>
          <p:nvPr/>
        </p:nvSpPr>
        <p:spPr>
          <a:xfrm>
            <a:off x="2944660" y="25400000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Easy Meal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Builder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40F3C8-0100-7DE9-7C04-941A2771FD67}"/>
              </a:ext>
            </a:extLst>
          </p:cNvPr>
          <p:cNvSpPr txBox="1"/>
          <p:nvPr/>
        </p:nvSpPr>
        <p:spPr>
          <a:xfrm>
            <a:off x="16769413" y="24242170"/>
            <a:ext cx="2794000" cy="2286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Mobile</a:t>
            </a:r>
            <a:br>
              <a:rPr lang="en-US" sz="3600" b="1" dirty="0"/>
            </a:br>
            <a:r>
              <a:rPr lang="en-US" sz="3600" b="1" dirty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9" name="GreenHex_19">
            <a:extLst>
              <a:ext uri="{FF2B5EF4-FFF2-40B4-BE49-F238E27FC236}">
                <a16:creationId xmlns:a16="http://schemas.microsoft.com/office/drawing/2014/main" id="{690950A2-321C-D3AB-9B00-948AB30DB061}"/>
              </a:ext>
            </a:extLst>
          </p:cNvPr>
          <p:cNvSpPr/>
          <p:nvPr/>
        </p:nvSpPr>
        <p:spPr>
          <a:xfrm>
            <a:off x="9100237" y="18472917"/>
            <a:ext cx="4380589" cy="2540000"/>
          </a:xfrm>
          <a:prstGeom prst="hexagon">
            <a:avLst/>
          </a:prstGeom>
          <a:solidFill>
            <a:srgbClr val="4FA89F"/>
          </a:solidFill>
          <a:ln w="38100" cap="flat" cmpd="sng" algn="ctr">
            <a:solidFill>
              <a:srgbClr val="7FE5DC"/>
            </a:solidFill>
            <a:prstDash val="solid"/>
            <a:miter lim="800000"/>
          </a:ln>
          <a:effectLst>
            <a:glow rad="127000">
              <a:srgbClr val="6FDDD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algn="r" defTabSz="3507821" rtl="1" eaLnBrk="1" latinLnBrk="0" hangingPunct="1"/>
            <a:endParaRPr lang="en-IL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A89711-0DB3-ED28-BCED-18727EE4A6A0}"/>
              </a:ext>
            </a:extLst>
          </p:cNvPr>
          <p:cNvSpPr txBox="1"/>
          <p:nvPr/>
        </p:nvSpPr>
        <p:spPr>
          <a:xfrm>
            <a:off x="9325862" y="19124714"/>
            <a:ext cx="39043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L" sz="3600" b="1" dirty="0">
                <a:solidFill>
                  <a:schemeClr val="bg1"/>
                </a:solidFill>
              </a:rPr>
              <a:t>ML-Based Product</a:t>
            </a:r>
            <a:br>
              <a:rPr lang="en-US" sz="3600" b="1" dirty="0">
                <a:solidFill>
                  <a:schemeClr val="bg1"/>
                </a:solidFill>
              </a:rPr>
            </a:br>
            <a:r>
              <a:rPr lang="en-IL" sz="3600" b="1" dirty="0">
                <a:solidFill>
                  <a:schemeClr val="bg1"/>
                </a:solidFill>
              </a:rPr>
              <a:t>Recommendations</a:t>
            </a:r>
            <a:endParaRPr lang="he-IL" sz="3600" b="1" dirty="0">
              <a:solidFill>
                <a:schemeClr val="bg1"/>
              </a:solidFill>
            </a:endParaRPr>
          </a:p>
          <a:p>
            <a:endParaRPr lang="en-IL" sz="3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FE2675C-B6CA-9A12-65C2-8D98319C21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8607" b="95902" l="9961" r="89844">
                        <a14:foregroundMark x1="52246" y1="85246" x2="48047" y2="80943"/>
                        <a14:foregroundMark x1="56641" y1="81557" x2="50488" y2="89139"/>
                        <a14:foregroundMark x1="50488" y1="89139" x2="46582" y2="87090"/>
                        <a14:foregroundMark x1="23438" y1="9631" x2="25781" y2="9016"/>
                        <a14:foregroundMark x1="45703" y1="94467" x2="43359" y2="93852"/>
                        <a14:foregroundMark x1="43066" y1="92623" x2="58984" y2="95902"/>
                        <a14:foregroundMark x1="58105" y1="93238" x2="59570" y2="93238"/>
                      </a14:backgroundRemoval>
                    </a14:imgEffect>
                  </a14:imgLayer>
                </a14:imgProps>
              </a:ext>
            </a:extLst>
          </a:blip>
          <a:srcRect l="19949" t="7208" r="18748" b="-1250"/>
          <a:stretch>
            <a:fillRect/>
          </a:stretch>
        </p:blipFill>
        <p:spPr>
          <a:xfrm>
            <a:off x="6877901" y="22317665"/>
            <a:ext cx="8195450" cy="6001604"/>
          </a:xfrm>
          <a:prstGeom prst="rect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17DE10F9-F81F-12EC-0D0F-5F64F48C093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426" y="22572778"/>
            <a:ext cx="7759124" cy="4124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741452-8BD7-513D-48DC-7273DD0BBD8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124" y="24080710"/>
            <a:ext cx="2190424" cy="4760138"/>
          </a:xfrm>
          <a:prstGeom prst="rect">
            <a:avLst/>
          </a:prstGeom>
        </p:spPr>
      </p:pic>
      <p:pic>
        <p:nvPicPr>
          <p:cNvPr id="23" name="תמונה 22" descr="תמונה שמכילה טקסט, גופן, לוגו, צילום מסך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CF3BB67E-34D0-B1EB-ED7A-1676EDF23FFB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027" t="7381" b="8665"/>
          <a:stretch>
            <a:fillRect/>
          </a:stretch>
        </p:blipFill>
        <p:spPr>
          <a:xfrm>
            <a:off x="28348074" y="27396340"/>
            <a:ext cx="6530180" cy="150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2227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8522BD-895A-654F-9692-7E8B03615BD3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e0657b9-a93a-4c85-ba8c-ac4fd8fa0db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b37368-257b-4467-96dd-af1b91bef81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D1BC521E164344898D0297273D2D99" ma:contentTypeVersion="13" ma:contentTypeDescription="Create a new document." ma:contentTypeScope="" ma:versionID="9032c977c4d704ad7da0a0a7e4a06190">
  <xsd:schema xmlns:xsd="http://www.w3.org/2001/XMLSchema" xmlns:xs="http://www.w3.org/2001/XMLSchema" xmlns:p="http://schemas.microsoft.com/office/2006/metadata/properties" xmlns:ns2="f2b37368-257b-4467-96dd-af1b91bef81d" targetNamespace="http://schemas.microsoft.com/office/2006/metadata/properties" ma:root="true" ma:fieldsID="79dae769cbb9243106955dfaa8c1cb90" ns2:_="">
    <xsd:import namespace="f2b37368-257b-4467-96dd-af1b91bef8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37368-257b-4467-96dd-af1b91bef8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23233a5-b502-48c3-b4b5-6955fd0d7d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7DB085-B774-45C0-812F-A1B0CE358EE2}">
  <ds:schemaRefs>
    <ds:schemaRef ds:uri="http://schemas.microsoft.com/office/2006/metadata/properties"/>
    <ds:schemaRef ds:uri="http://www.w3.org/2000/xmlns/"/>
    <ds:schemaRef ds:uri="f2b37368-257b-4467-96dd-af1b91bef81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95B88EF-4006-4D4E-9747-59AA7B83AD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1538BC-16AD-4AA9-97F8-0E6B198CE26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2b37368-257b-4467-96dd-af1b91bef81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ac44c96-980a-481b-ae23-d8f56b82c605}" enabled="0" method="" siteId="{9ac44c96-980a-481b-ae23-d8f56b82c60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18860</TotalTime>
  <Words>225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ניר אלנברג</dc:creator>
  <cp:lastModifiedBy>Tomer Natan</cp:lastModifiedBy>
  <cp:revision>143</cp:revision>
  <cp:lastPrinted>2023-03-02T10:32:15Z</cp:lastPrinted>
  <dcterms:created xsi:type="dcterms:W3CDTF">2017-02-20T11:23:11Z</dcterms:created>
  <dcterms:modified xsi:type="dcterms:W3CDTF">2026-06-05T06:08:36Z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0x01010033D1BC521E164344898D0297273D2D99</vt:lpwstr>
  </property>
  <property fmtid="{D5CDD505-2E9C-101B-9397-08002B2CF9AE}" pid="3" name="MediaServiceImageTags">
    <vt:lpwstr/>
  </property>
</Properties>
</file>